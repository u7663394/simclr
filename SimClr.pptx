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Play-regular.fntdata"/><Relationship Id="rId14" Type="http://schemas.openxmlformats.org/officeDocument/2006/relationships/slide" Target="slides/slide8.xml"/><Relationship Id="rId16" Type="http://schemas.openxmlformats.org/officeDocument/2006/relationships/font" Target="fonts/Play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28c7c3fb8_10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e28c7c3fb8_10_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Opening cue: Introduce the project title, then introduce each member and their contribution. Keep the focus on the team structure and the shared experimental setup: CIFAR-10, ResNet-18, and frozen linear evaluation.</a:t>
            </a:r>
            <a:endParaRPr/>
          </a:p>
        </p:txBody>
      </p:sp>
      <p:sp>
        <p:nvSpPr>
          <p:cNvPr id="55" name="Google Shape;55;g3e28c7c3fb8_10_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28c7c3fb8_10_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g3e28c7c3fb8_10_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Method cue: Explain the two phases. The top row is contrastive pretraining. The second row is evaluation and intentionally reads from right to left: frozen encoder features, linear classifier, then test accuracy. This makes clear that the projection head is not used for the final linear evaluation.</a:t>
            </a:r>
            <a:endParaRPr/>
          </a:p>
        </p:txBody>
      </p:sp>
      <p:sp>
        <p:nvSpPr>
          <p:cNvPr id="88" name="Google Shape;88;g3e28c7c3fb8_10_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28c7c3fb8_10_8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g3e28c7c3fb8_10_8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Placeholder cue for Weiyi: Replace this slide with the final augmentation results. Keep one clear claim in the title, then show the three augmentation settings and the main accuracy comparison.</a:t>
            </a:r>
            <a:endParaRPr/>
          </a:p>
        </p:txBody>
      </p:sp>
      <p:sp>
        <p:nvSpPr>
          <p:cNvPr id="139" name="Google Shape;139;g3e28c7c3fb8_10_8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28c7c3fb8_10_1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g3e28c7c3fb8_10_1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Placeholder cue for Chengbo: Replace this slide with the final low-label comparison. The strongest story would show whether SimCLR gives the biggest advantage at 1% or 10% labels, then compare against the full-label setting.</a:t>
            </a:r>
            <a:endParaRPr/>
          </a:p>
        </p:txBody>
      </p:sp>
      <p:sp>
        <p:nvSpPr>
          <p:cNvPr id="172" name="Google Shape;172;g3e28c7c3fb8_10_1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28c7c3fb8_10_15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g3e28c7c3fb8_10_1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Guochen cue: Explain that the projection head creates a separate z-space for the contrastive objective. The encoder feature h is still the feature used by the downstream linear classifier. Without the projection head, h has to satisfy both the pretext objective and downstream representation needs.</a:t>
            </a:r>
            <a:endParaRPr/>
          </a:p>
        </p:txBody>
      </p:sp>
      <p:sp>
        <p:nvSpPr>
          <p:cNvPr id="210" name="Google Shape;210;g3e28c7c3fb8_10_1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28c7c3fb8_10_2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g3e28c7c3fb8_10_2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Guochen cue: State the result first. With the projection head, best accuracy is 63.59%; without it, best accuracy is 62.16%, so the improvement is 1.43 percentage points. The final accuracy also improves from 61.40% to 62.84%.</a:t>
            </a:r>
            <a:endParaRPr/>
          </a:p>
        </p:txBody>
      </p:sp>
      <p:sp>
        <p:nvSpPr>
          <p:cNvPr id="289" name="Google Shape;289;g3e28c7c3fb8_10_2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e28c7c3fb8_10_27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g3e28c7c3fb8_10_2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Guochen cue: Link batch size to negatives: each anchor has 2B minus 2 negatives. Then state the result: B=256 performs best, while 512 and 1024 drop. This does not mean negatives are useless; it means batch size is tied to optimization.</a:t>
            </a:r>
            <a:endParaRPr/>
          </a:p>
        </p:txBody>
      </p:sp>
      <p:sp>
        <p:nvSpPr>
          <p:cNvPr id="335" name="Google Shape;335;g3e28c7c3fb8_10_2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e28c7c3fb8_10_3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g3e28c7c3fb8_10_3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Closing cue: Summarize the full group story. The completed results show that the projection head helps and that batch size is not just a negative-count variable. Then connect to the teammate sections and end with the limitations.</a:t>
            </a:r>
            <a:endParaRPr/>
          </a:p>
        </p:txBody>
      </p:sp>
      <p:sp>
        <p:nvSpPr>
          <p:cNvPr id="385" name="Google Shape;385;g3e28c7c3fb8_10_3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E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0" y="0"/>
            <a:ext cx="157163" cy="5143500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0" y="0"/>
            <a:ext cx="157163" cy="1143000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385763" y="48577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COMP3242 Group Project - SimCLR Ablation Study</a:t>
            </a:r>
            <a:endParaRPr sz="1100"/>
          </a:p>
        </p:txBody>
      </p:sp>
      <p:sp>
        <p:nvSpPr>
          <p:cNvPr id="61" name="Google Shape;61;p15"/>
          <p:cNvSpPr/>
          <p:nvPr/>
        </p:nvSpPr>
        <p:spPr>
          <a:xfrm>
            <a:off x="8329613" y="4829175"/>
            <a:ext cx="41433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62" name="Google Shape;62;p15"/>
          <p:cNvSpPr/>
          <p:nvPr/>
        </p:nvSpPr>
        <p:spPr>
          <a:xfrm>
            <a:off x="385763" y="4743450"/>
            <a:ext cx="8358188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514350" y="364331"/>
            <a:ext cx="71438" cy="71438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642938" y="328613"/>
            <a:ext cx="328612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PROJECT TEAM</a:t>
            </a:r>
            <a:endParaRPr sz="1100"/>
          </a:p>
        </p:txBody>
      </p:sp>
      <p:sp>
        <p:nvSpPr>
          <p:cNvPr id="65" name="Google Shape;65;p15"/>
          <p:cNvSpPr/>
          <p:nvPr/>
        </p:nvSpPr>
        <p:spPr>
          <a:xfrm>
            <a:off x="514350" y="657225"/>
            <a:ext cx="5143500" cy="4857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900">
                <a:solidFill>
                  <a:srgbClr val="17202A"/>
                </a:solidFill>
              </a:rPr>
              <a:t>SimCLR Ablation Study</a:t>
            </a:r>
            <a:endParaRPr sz="1100"/>
          </a:p>
        </p:txBody>
      </p:sp>
      <p:sp>
        <p:nvSpPr>
          <p:cNvPr id="66" name="Google Shape;66;p15"/>
          <p:cNvSpPr/>
          <p:nvPr/>
        </p:nvSpPr>
        <p:spPr>
          <a:xfrm>
            <a:off x="542925" y="1200150"/>
            <a:ext cx="5429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11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Understanding which contrastive-learning components improve representations.</a:t>
            </a:r>
            <a:endParaRPr sz="1100"/>
          </a:p>
        </p:txBody>
      </p:sp>
      <p:sp>
        <p:nvSpPr>
          <p:cNvPr id="67" name="Google Shape;67;p15"/>
          <p:cNvSpPr/>
          <p:nvPr/>
        </p:nvSpPr>
        <p:spPr>
          <a:xfrm>
            <a:off x="6186488" y="648454"/>
            <a:ext cx="2085975" cy="942975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172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6400800" y="800100"/>
            <a:ext cx="10001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F0E9FF"/>
                </a:solidFill>
                <a:latin typeface="Arial"/>
                <a:ea typeface="Arial"/>
                <a:cs typeface="Arial"/>
                <a:sym typeface="Arial"/>
              </a:rPr>
              <a:t>SHARED SETUP</a:t>
            </a:r>
            <a:endParaRPr sz="1100"/>
          </a:p>
        </p:txBody>
      </p:sp>
      <p:sp>
        <p:nvSpPr>
          <p:cNvPr id="69" name="Google Shape;69;p15"/>
          <p:cNvSpPr/>
          <p:nvPr/>
        </p:nvSpPr>
        <p:spPr>
          <a:xfrm>
            <a:off x="6400800" y="1014413"/>
            <a:ext cx="1657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CIFAR-10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ResNet-18 encoder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Frozen linear evaluation</a:t>
            </a:r>
            <a:endParaRPr sz="1100"/>
          </a:p>
        </p:txBody>
      </p:sp>
      <p:sp>
        <p:nvSpPr>
          <p:cNvPr id="70" name="Google Shape;70;p15"/>
          <p:cNvSpPr/>
          <p:nvPr/>
        </p:nvSpPr>
        <p:spPr>
          <a:xfrm>
            <a:off x="742950" y="2014538"/>
            <a:ext cx="7286625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742950" y="2014538"/>
            <a:ext cx="50006" cy="685800"/>
          </a:xfrm>
          <a:prstGeom prst="rect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914400" y="2143125"/>
            <a:ext cx="1285875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rgbClr val="17202A"/>
                </a:solidFill>
                <a:latin typeface="Play"/>
                <a:ea typeface="Play"/>
                <a:cs typeface="Play"/>
                <a:sym typeface="Play"/>
              </a:rPr>
              <a:t>Weiyi Jiang</a:t>
            </a:r>
            <a:endParaRPr sz="1100"/>
          </a:p>
        </p:txBody>
      </p:sp>
      <p:sp>
        <p:nvSpPr>
          <p:cNvPr id="73" name="Google Shape;73;p15"/>
          <p:cNvSpPr/>
          <p:nvPr/>
        </p:nvSpPr>
        <p:spPr>
          <a:xfrm>
            <a:off x="914400" y="2386013"/>
            <a:ext cx="1357313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Data augmentation </a:t>
            </a:r>
            <a:endParaRPr b="1" sz="700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uxxxxxx</a:t>
            </a:r>
            <a:endParaRPr sz="1100"/>
          </a:p>
        </p:txBody>
      </p:sp>
      <p:sp>
        <p:nvSpPr>
          <p:cNvPr id="74" name="Google Shape;74;p15"/>
          <p:cNvSpPr/>
          <p:nvPr/>
        </p:nvSpPr>
        <p:spPr>
          <a:xfrm>
            <a:off x="2528888" y="2157413"/>
            <a:ext cx="5272088" cy="3714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9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Compares weak, medium, and strong view generation to explain how augmentation strength affects representation quality. </a:t>
            </a:r>
            <a:r>
              <a:rPr lang="zh-CN" sz="900">
                <a:solidFill>
                  <a:srgbClr val="5C6670"/>
                </a:solidFill>
              </a:rPr>
              <a:t>TODO: Add more here.</a:t>
            </a:r>
            <a:endParaRPr sz="1100"/>
          </a:p>
        </p:txBody>
      </p:sp>
      <p:sp>
        <p:nvSpPr>
          <p:cNvPr id="75" name="Google Shape;75;p15"/>
          <p:cNvSpPr/>
          <p:nvPr/>
        </p:nvSpPr>
        <p:spPr>
          <a:xfrm>
            <a:off x="742950" y="2871788"/>
            <a:ext cx="7286625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742950" y="2871788"/>
            <a:ext cx="50006" cy="685800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914400" y="3000375"/>
            <a:ext cx="1285875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rgbClr val="17202A"/>
                </a:solidFill>
                <a:latin typeface="Play"/>
                <a:ea typeface="Play"/>
                <a:cs typeface="Play"/>
                <a:sym typeface="Play"/>
              </a:rPr>
              <a:t>Chengbo Yan</a:t>
            </a:r>
            <a:endParaRPr sz="1100"/>
          </a:p>
        </p:txBody>
      </p:sp>
      <p:sp>
        <p:nvSpPr>
          <p:cNvPr id="78" name="Google Shape;78;p15"/>
          <p:cNvSpPr/>
          <p:nvPr/>
        </p:nvSpPr>
        <p:spPr>
          <a:xfrm>
            <a:off x="914400" y="3243263"/>
            <a:ext cx="1357313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Low-label evaluation </a:t>
            </a:r>
            <a:endParaRPr b="1" sz="700">
              <a:solidFill>
                <a:srgbClr val="16A34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16A34A"/>
                </a:solidFill>
              </a:rPr>
              <a:t>uxxxxxx</a:t>
            </a:r>
            <a:endParaRPr sz="1100"/>
          </a:p>
        </p:txBody>
      </p:sp>
      <p:sp>
        <p:nvSpPr>
          <p:cNvPr id="79" name="Google Shape;79;p15"/>
          <p:cNvSpPr/>
          <p:nvPr/>
        </p:nvSpPr>
        <p:spPr>
          <a:xfrm>
            <a:off x="2528888" y="3014663"/>
            <a:ext cx="5272088" cy="3714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9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Tests whether SimCLR pretraining is useful when only 1%, 10%, or 100% of labels are available. TODO: Add more here.</a:t>
            </a:r>
            <a:endParaRPr sz="1100"/>
          </a:p>
        </p:txBody>
      </p:sp>
      <p:sp>
        <p:nvSpPr>
          <p:cNvPr id="80" name="Google Shape;80;p15"/>
          <p:cNvSpPr/>
          <p:nvPr/>
        </p:nvSpPr>
        <p:spPr>
          <a:xfrm>
            <a:off x="742950" y="3729038"/>
            <a:ext cx="7286625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742950" y="3729038"/>
            <a:ext cx="50006" cy="6858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914400" y="3857625"/>
            <a:ext cx="1285800" cy="200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rgbClr val="17202A"/>
                </a:solidFill>
                <a:latin typeface="Play"/>
                <a:ea typeface="Play"/>
                <a:cs typeface="Play"/>
                <a:sym typeface="Play"/>
              </a:rPr>
              <a:t>Guochen Wang</a:t>
            </a:r>
            <a:endParaRPr sz="1100"/>
          </a:p>
        </p:txBody>
      </p:sp>
      <p:sp>
        <p:nvSpPr>
          <p:cNvPr id="83" name="Google Shape;83;p15"/>
          <p:cNvSpPr/>
          <p:nvPr/>
        </p:nvSpPr>
        <p:spPr>
          <a:xfrm>
            <a:off x="914400" y="4100513"/>
            <a:ext cx="1357313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Projection head + batch size u</a:t>
            </a:r>
            <a:r>
              <a:rPr b="1" lang="zh-CN" sz="700">
                <a:solidFill>
                  <a:srgbClr val="2563EB"/>
                </a:solidFill>
              </a:rPr>
              <a:t>7663394</a:t>
            </a:r>
            <a:endParaRPr sz="1100"/>
          </a:p>
        </p:txBody>
      </p:sp>
      <p:sp>
        <p:nvSpPr>
          <p:cNvPr id="84" name="Google Shape;84;p15"/>
          <p:cNvSpPr/>
          <p:nvPr/>
        </p:nvSpPr>
        <p:spPr>
          <a:xfrm>
            <a:off x="2528888" y="3871913"/>
            <a:ext cx="5272088" cy="3714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9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Analyzes whether a nonlinear projection head improves transfer, and how batch size changes negative samples and optimization.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/>
          <p:nvPr/>
        </p:nvSpPr>
        <p:spPr>
          <a:xfrm>
            <a:off x="0" y="7144"/>
            <a:ext cx="9144000" cy="5143500"/>
          </a:xfrm>
          <a:prstGeom prst="rect">
            <a:avLst/>
          </a:prstGeom>
          <a:solidFill>
            <a:srgbClr val="F7F2E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0" y="0"/>
            <a:ext cx="157163" cy="5143500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0" y="0"/>
            <a:ext cx="157163" cy="1143000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385763" y="48577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COMP3242 Group Project - SimCLR Ablation Study</a:t>
            </a:r>
            <a:endParaRPr sz="1100"/>
          </a:p>
        </p:txBody>
      </p:sp>
      <p:sp>
        <p:nvSpPr>
          <p:cNvPr id="94" name="Google Shape;94;p16"/>
          <p:cNvSpPr/>
          <p:nvPr/>
        </p:nvSpPr>
        <p:spPr>
          <a:xfrm>
            <a:off x="8329613" y="4829175"/>
            <a:ext cx="41433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95" name="Google Shape;95;p16"/>
          <p:cNvSpPr/>
          <p:nvPr/>
        </p:nvSpPr>
        <p:spPr>
          <a:xfrm>
            <a:off x="385763" y="4743450"/>
            <a:ext cx="8358188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514350" y="364331"/>
            <a:ext cx="71438" cy="71438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642938" y="328613"/>
            <a:ext cx="328612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METHOD / EVALUATION CONTRACT</a:t>
            </a:r>
            <a:endParaRPr sz="1100"/>
          </a:p>
        </p:txBody>
      </p:sp>
      <p:sp>
        <p:nvSpPr>
          <p:cNvPr id="98" name="Google Shape;98;p16"/>
          <p:cNvSpPr/>
          <p:nvPr/>
        </p:nvSpPr>
        <p:spPr>
          <a:xfrm>
            <a:off x="514350" y="585788"/>
            <a:ext cx="6143625" cy="628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300">
                <a:solidFill>
                  <a:srgbClr val="17202A"/>
                </a:solidFill>
              </a:rPr>
              <a:t>We judge representation quality after freezing the encoder.</a:t>
            </a:r>
            <a:endParaRPr sz="1100"/>
          </a:p>
        </p:txBody>
      </p:sp>
      <p:sp>
        <p:nvSpPr>
          <p:cNvPr id="99" name="Google Shape;99;p16"/>
          <p:cNvSpPr/>
          <p:nvPr/>
        </p:nvSpPr>
        <p:spPr>
          <a:xfrm>
            <a:off x="514338" y="1314400"/>
            <a:ext cx="6072300" cy="243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10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This keeps the downstream classifier simple, so accuracy mainly reflects the pretrained feature space.</a:t>
            </a:r>
            <a:endParaRPr sz="1100"/>
          </a:p>
        </p:txBody>
      </p:sp>
      <p:sp>
        <p:nvSpPr>
          <p:cNvPr id="100" name="Google Shape;100;p16"/>
          <p:cNvSpPr/>
          <p:nvPr/>
        </p:nvSpPr>
        <p:spPr>
          <a:xfrm>
            <a:off x="657225" y="1828800"/>
            <a:ext cx="185737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CONTRASTIVE PRETRAINING</a:t>
            </a:r>
            <a:endParaRPr sz="1100"/>
          </a:p>
        </p:txBody>
      </p:sp>
      <p:sp>
        <p:nvSpPr>
          <p:cNvPr id="101" name="Google Shape;101;p16"/>
          <p:cNvSpPr/>
          <p:nvPr/>
        </p:nvSpPr>
        <p:spPr>
          <a:xfrm>
            <a:off x="657225" y="2085975"/>
            <a:ext cx="1014413" cy="6572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771525" y="2200275"/>
            <a:ext cx="785813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CIFAR-10</a:t>
            </a:r>
            <a:endParaRPr sz="1100"/>
          </a:p>
        </p:txBody>
      </p:sp>
      <p:sp>
        <p:nvSpPr>
          <p:cNvPr id="103" name="Google Shape;103;p16"/>
          <p:cNvSpPr/>
          <p:nvPr/>
        </p:nvSpPr>
        <p:spPr>
          <a:xfrm>
            <a:off x="771525" y="2500313"/>
            <a:ext cx="78581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unlabeled images</a:t>
            </a:r>
            <a:endParaRPr sz="1100"/>
          </a:p>
        </p:txBody>
      </p:sp>
      <p:sp>
        <p:nvSpPr>
          <p:cNvPr id="104" name="Google Shape;104;p16"/>
          <p:cNvSpPr/>
          <p:nvPr/>
        </p:nvSpPr>
        <p:spPr>
          <a:xfrm>
            <a:off x="1814513" y="2300288"/>
            <a:ext cx="371475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C3AE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2328863" y="1971675"/>
            <a:ext cx="1114425" cy="885825"/>
          </a:xfrm>
          <a:prstGeom prst="rect">
            <a:avLst/>
          </a:prstGeom>
          <a:solidFill>
            <a:srgbClr val="F0E9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2443163" y="2085975"/>
            <a:ext cx="885825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two views</a:t>
            </a:r>
            <a:endParaRPr sz="1100"/>
          </a:p>
        </p:txBody>
      </p:sp>
      <p:sp>
        <p:nvSpPr>
          <p:cNvPr id="107" name="Google Shape;107;p16"/>
          <p:cNvSpPr/>
          <p:nvPr/>
        </p:nvSpPr>
        <p:spPr>
          <a:xfrm>
            <a:off x="2443163" y="2386013"/>
            <a:ext cx="885825" cy="3857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crop, jitter, blur</a:t>
            </a:r>
            <a:endParaRPr sz="1100"/>
          </a:p>
        </p:txBody>
      </p:sp>
      <p:sp>
        <p:nvSpPr>
          <p:cNvPr id="108" name="Google Shape;108;p16"/>
          <p:cNvSpPr/>
          <p:nvPr/>
        </p:nvSpPr>
        <p:spPr>
          <a:xfrm>
            <a:off x="3586163" y="2300288"/>
            <a:ext cx="371475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C3AE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4100513" y="2085975"/>
            <a:ext cx="1100138" cy="6572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4214813" y="2200275"/>
            <a:ext cx="871538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encoder f</a:t>
            </a:r>
            <a:endParaRPr sz="1100"/>
          </a:p>
        </p:txBody>
      </p:sp>
      <p:sp>
        <p:nvSpPr>
          <p:cNvPr id="111" name="Google Shape;111;p16"/>
          <p:cNvSpPr/>
          <p:nvPr/>
        </p:nvSpPr>
        <p:spPr>
          <a:xfrm>
            <a:off x="4214813" y="2500313"/>
            <a:ext cx="871538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ResNet-18 feature h</a:t>
            </a:r>
            <a:endParaRPr sz="1100"/>
          </a:p>
        </p:txBody>
      </p:sp>
      <p:sp>
        <p:nvSpPr>
          <p:cNvPr id="112" name="Google Shape;112;p16"/>
          <p:cNvSpPr/>
          <p:nvPr/>
        </p:nvSpPr>
        <p:spPr>
          <a:xfrm>
            <a:off x="5343525" y="2300288"/>
            <a:ext cx="371475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B277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5857875" y="2085975"/>
            <a:ext cx="1100138" cy="657225"/>
          </a:xfrm>
          <a:prstGeom prst="rect">
            <a:avLst/>
          </a:prstGeom>
          <a:solidFill>
            <a:srgbClr val="FCE7F3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5972175" y="2200275"/>
            <a:ext cx="871538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DB2777"/>
                </a:solidFill>
                <a:latin typeface="Arial"/>
                <a:ea typeface="Arial"/>
                <a:cs typeface="Arial"/>
                <a:sym typeface="Arial"/>
              </a:rPr>
              <a:t>projection g</a:t>
            </a:r>
            <a:endParaRPr sz="1100"/>
          </a:p>
        </p:txBody>
      </p:sp>
      <p:sp>
        <p:nvSpPr>
          <p:cNvPr id="115" name="Google Shape;115;p16"/>
          <p:cNvSpPr/>
          <p:nvPr/>
        </p:nvSpPr>
        <p:spPr>
          <a:xfrm>
            <a:off x="5972175" y="2500313"/>
            <a:ext cx="871538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MLP maps h to z</a:t>
            </a:r>
            <a:endParaRPr sz="1100"/>
          </a:p>
        </p:txBody>
      </p:sp>
      <p:sp>
        <p:nvSpPr>
          <p:cNvPr id="116" name="Google Shape;116;p16"/>
          <p:cNvSpPr/>
          <p:nvPr/>
        </p:nvSpPr>
        <p:spPr>
          <a:xfrm>
            <a:off x="7100888" y="2300288"/>
            <a:ext cx="371475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B277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7615238" y="1971675"/>
            <a:ext cx="1100138" cy="8858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7729538" y="2085975"/>
            <a:ext cx="871538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NT-Xent</a:t>
            </a:r>
            <a:endParaRPr b="1" sz="1000">
              <a:solidFill>
                <a:srgbClr val="1720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7729538" y="2386013"/>
            <a:ext cx="871538" cy="3857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positive/negative pairs</a:t>
            </a:r>
            <a:endParaRPr sz="1100"/>
          </a:p>
        </p:txBody>
      </p:sp>
      <p:sp>
        <p:nvSpPr>
          <p:cNvPr id="120" name="Google Shape;120;p16"/>
          <p:cNvSpPr/>
          <p:nvPr/>
        </p:nvSpPr>
        <p:spPr>
          <a:xfrm>
            <a:off x="7379494" y="3200400"/>
            <a:ext cx="15716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LINEAR EVALUATION</a:t>
            </a:r>
            <a:endParaRPr sz="1100"/>
          </a:p>
        </p:txBody>
      </p:sp>
      <p:sp>
        <p:nvSpPr>
          <p:cNvPr id="121" name="Google Shape;121;p16"/>
          <p:cNvSpPr/>
          <p:nvPr/>
        </p:nvSpPr>
        <p:spPr>
          <a:xfrm>
            <a:off x="6929438" y="3457575"/>
            <a:ext cx="1457325" cy="642938"/>
          </a:xfrm>
          <a:prstGeom prst="rect">
            <a:avLst/>
          </a:prstGeom>
          <a:solidFill>
            <a:srgbClr val="EAF7EE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7043738" y="3571875"/>
            <a:ext cx="1228725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frozen encoder h</a:t>
            </a:r>
            <a:endParaRPr sz="1100"/>
          </a:p>
        </p:txBody>
      </p:sp>
      <p:sp>
        <p:nvSpPr>
          <p:cNvPr id="123" name="Google Shape;123;p16"/>
          <p:cNvSpPr/>
          <p:nvPr/>
        </p:nvSpPr>
        <p:spPr>
          <a:xfrm>
            <a:off x="7043738" y="3871913"/>
            <a:ext cx="12287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512-dimensional features</a:t>
            </a:r>
            <a:endParaRPr sz="1100"/>
          </a:p>
        </p:txBody>
      </p:sp>
      <p:sp>
        <p:nvSpPr>
          <p:cNvPr id="124" name="Google Shape;124;p16"/>
          <p:cNvSpPr/>
          <p:nvPr/>
        </p:nvSpPr>
        <p:spPr>
          <a:xfrm>
            <a:off x="6415088" y="3657600"/>
            <a:ext cx="371475" cy="242888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4757738" y="3457575"/>
            <a:ext cx="1457325" cy="64293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4872038" y="3571875"/>
            <a:ext cx="1228725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linear classifier</a:t>
            </a:r>
            <a:endParaRPr sz="1100"/>
          </a:p>
        </p:txBody>
      </p:sp>
      <p:sp>
        <p:nvSpPr>
          <p:cNvPr id="127" name="Google Shape;127;p16"/>
          <p:cNvSpPr/>
          <p:nvPr/>
        </p:nvSpPr>
        <p:spPr>
          <a:xfrm>
            <a:off x="4872038" y="3871913"/>
            <a:ext cx="12287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train only this layer</a:t>
            </a:r>
            <a:endParaRPr sz="1100"/>
          </a:p>
        </p:txBody>
      </p:sp>
      <p:sp>
        <p:nvSpPr>
          <p:cNvPr id="128" name="Google Shape;128;p16"/>
          <p:cNvSpPr/>
          <p:nvPr/>
        </p:nvSpPr>
        <p:spPr>
          <a:xfrm>
            <a:off x="4243388" y="3657600"/>
            <a:ext cx="371475" cy="242888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2586038" y="3457575"/>
            <a:ext cx="1457325" cy="64293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2700338" y="3571875"/>
            <a:ext cx="1228725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test accuracy</a:t>
            </a:r>
            <a:endParaRPr sz="1100"/>
          </a:p>
        </p:txBody>
      </p:sp>
      <p:sp>
        <p:nvSpPr>
          <p:cNvPr id="131" name="Google Shape;131;p16"/>
          <p:cNvSpPr/>
          <p:nvPr/>
        </p:nvSpPr>
        <p:spPr>
          <a:xfrm>
            <a:off x="2700338" y="3871913"/>
            <a:ext cx="12287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representation metric</a:t>
            </a:r>
            <a:endParaRPr sz="1100"/>
          </a:p>
        </p:txBody>
      </p:sp>
      <p:sp>
        <p:nvSpPr>
          <p:cNvPr id="132" name="Google Shape;132;p16"/>
          <p:cNvSpPr/>
          <p:nvPr/>
        </p:nvSpPr>
        <p:spPr>
          <a:xfrm>
            <a:off x="585788" y="3425112"/>
            <a:ext cx="1528763" cy="771525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172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795397" y="3521236"/>
            <a:ext cx="857250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F0E9FF"/>
                </a:solidFill>
                <a:latin typeface="Arial"/>
                <a:ea typeface="Arial"/>
                <a:cs typeface="Arial"/>
                <a:sym typeface="Arial"/>
              </a:rPr>
              <a:t>CONTROLLED</a:t>
            </a:r>
            <a:endParaRPr sz="1100"/>
          </a:p>
        </p:txBody>
      </p:sp>
      <p:sp>
        <p:nvSpPr>
          <p:cNvPr id="134" name="Google Shape;134;p16"/>
          <p:cNvSpPr/>
          <p:nvPr/>
        </p:nvSpPr>
        <p:spPr>
          <a:xfrm>
            <a:off x="792595" y="3703266"/>
            <a:ext cx="1057275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DDE6EF"/>
                </a:solidFill>
                <a:latin typeface="Arial"/>
                <a:ea typeface="Arial"/>
                <a:cs typeface="Arial"/>
                <a:sym typeface="Arial"/>
              </a:rPr>
              <a:t>same dataset, backbone, checkpoint protocol, and frozen evaluation</a:t>
            </a:r>
            <a:endParaRPr sz="1100"/>
          </a:p>
        </p:txBody>
      </p:sp>
      <p:pic>
        <p:nvPicPr>
          <p:cNvPr id="135" name="Google Shape;135;p16" title="tsne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7600" y="475400"/>
            <a:ext cx="2486026" cy="1224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E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0" y="0"/>
            <a:ext cx="157163" cy="5143500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0" y="0"/>
            <a:ext cx="157163" cy="1143000"/>
          </a:xfrm>
          <a:prstGeom prst="rect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385763" y="48577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COMP3242 Group Project - SimCLR Ablation Study</a:t>
            </a:r>
            <a:endParaRPr sz="1100"/>
          </a:p>
        </p:txBody>
      </p:sp>
      <p:sp>
        <p:nvSpPr>
          <p:cNvPr id="145" name="Google Shape;145;p17"/>
          <p:cNvSpPr/>
          <p:nvPr/>
        </p:nvSpPr>
        <p:spPr>
          <a:xfrm>
            <a:off x="8329613" y="4829175"/>
            <a:ext cx="41433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146" name="Google Shape;146;p17"/>
          <p:cNvSpPr/>
          <p:nvPr/>
        </p:nvSpPr>
        <p:spPr>
          <a:xfrm>
            <a:off x="385763" y="4743450"/>
            <a:ext cx="8358188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14350" y="364331"/>
            <a:ext cx="71438" cy="71438"/>
          </a:xfrm>
          <a:prstGeom prst="rect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642938" y="328613"/>
            <a:ext cx="328612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PLACEHOLDER / WEIYI</a:t>
            </a:r>
            <a:endParaRPr sz="1100"/>
          </a:p>
        </p:txBody>
      </p:sp>
      <p:sp>
        <p:nvSpPr>
          <p:cNvPr id="149" name="Google Shape;149;p17"/>
          <p:cNvSpPr/>
          <p:nvPr/>
        </p:nvSpPr>
        <p:spPr>
          <a:xfrm>
            <a:off x="514350" y="585788"/>
            <a:ext cx="6429375" cy="6715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17202A"/>
                </a:solidFill>
              </a:rPr>
              <a:t>Data augmentation section: add slides from here.</a:t>
            </a:r>
            <a:endParaRPr sz="1100"/>
          </a:p>
        </p:txBody>
      </p:sp>
      <p:sp>
        <p:nvSpPr>
          <p:cNvPr id="150" name="Google Shape;150;p17"/>
          <p:cNvSpPr/>
          <p:nvPr/>
        </p:nvSpPr>
        <p:spPr>
          <a:xfrm>
            <a:off x="514350" y="1064419"/>
            <a:ext cx="6000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10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Add Subtitle Here.</a:t>
            </a:r>
            <a:endParaRPr sz="1100"/>
          </a:p>
        </p:txBody>
      </p:sp>
      <p:sp>
        <p:nvSpPr>
          <p:cNvPr id="151" name="Google Shape;151;p17"/>
          <p:cNvSpPr/>
          <p:nvPr/>
        </p:nvSpPr>
        <p:spPr>
          <a:xfrm>
            <a:off x="728663" y="1928813"/>
            <a:ext cx="2143125" cy="1643063"/>
          </a:xfrm>
          <a:prstGeom prst="rect">
            <a:avLst/>
          </a:prstGeom>
          <a:solidFill>
            <a:srgbClr val="FFF4E4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914400" y="2100263"/>
            <a:ext cx="1771650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rgbClr val="D97706"/>
                </a:solidFill>
                <a:latin typeface="Play"/>
                <a:ea typeface="Play"/>
                <a:cs typeface="Play"/>
                <a:sym typeface="Play"/>
              </a:rPr>
              <a:t>Weak</a:t>
            </a:r>
            <a:endParaRPr sz="1100"/>
          </a:p>
        </p:txBody>
      </p:sp>
      <p:sp>
        <p:nvSpPr>
          <p:cNvPr id="153" name="Google Shape;153;p17"/>
          <p:cNvSpPr/>
          <p:nvPr/>
        </p:nvSpPr>
        <p:spPr>
          <a:xfrm>
            <a:off x="914400" y="2428875"/>
            <a:ext cx="1771650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9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random crop only</a:t>
            </a:r>
            <a:endParaRPr sz="1100"/>
          </a:p>
        </p:txBody>
      </p:sp>
      <p:sp>
        <p:nvSpPr>
          <p:cNvPr id="154" name="Google Shape;154;p17"/>
          <p:cNvSpPr/>
          <p:nvPr/>
        </p:nvSpPr>
        <p:spPr>
          <a:xfrm>
            <a:off x="914400" y="2828925"/>
            <a:ext cx="1771650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914400" y="3014663"/>
            <a:ext cx="1700213" cy="3143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Insert accuracy chart / image examples / key observation</a:t>
            </a:r>
            <a:endParaRPr sz="1100"/>
          </a:p>
        </p:txBody>
      </p:sp>
      <p:sp>
        <p:nvSpPr>
          <p:cNvPr id="156" name="Google Shape;156;p17"/>
          <p:cNvSpPr/>
          <p:nvPr/>
        </p:nvSpPr>
        <p:spPr>
          <a:xfrm>
            <a:off x="3300413" y="1928813"/>
            <a:ext cx="2143125" cy="1643063"/>
          </a:xfrm>
          <a:prstGeom prst="rect">
            <a:avLst/>
          </a:prstGeom>
          <a:solidFill>
            <a:srgbClr val="E6F6FC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3486150" y="2100263"/>
            <a:ext cx="1771650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rgbClr val="0284C7"/>
                </a:solidFill>
                <a:latin typeface="Play"/>
                <a:ea typeface="Play"/>
                <a:cs typeface="Play"/>
                <a:sym typeface="Play"/>
              </a:rPr>
              <a:t>Medium</a:t>
            </a:r>
            <a:endParaRPr sz="1100"/>
          </a:p>
        </p:txBody>
      </p:sp>
      <p:sp>
        <p:nvSpPr>
          <p:cNvPr id="158" name="Google Shape;158;p17"/>
          <p:cNvSpPr/>
          <p:nvPr/>
        </p:nvSpPr>
        <p:spPr>
          <a:xfrm>
            <a:off x="3486150" y="2428875"/>
            <a:ext cx="1771650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9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crop + color jitter</a:t>
            </a:r>
            <a:endParaRPr sz="1100"/>
          </a:p>
        </p:txBody>
      </p:sp>
      <p:sp>
        <p:nvSpPr>
          <p:cNvPr id="159" name="Google Shape;159;p17"/>
          <p:cNvSpPr/>
          <p:nvPr/>
        </p:nvSpPr>
        <p:spPr>
          <a:xfrm>
            <a:off x="3486150" y="2828925"/>
            <a:ext cx="1771650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3486150" y="3014663"/>
            <a:ext cx="1700213" cy="3143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Insert accuracy chart / image examples / key observation</a:t>
            </a:r>
            <a:endParaRPr sz="1100"/>
          </a:p>
        </p:txBody>
      </p:sp>
      <p:sp>
        <p:nvSpPr>
          <p:cNvPr id="161" name="Google Shape;161;p17"/>
          <p:cNvSpPr/>
          <p:nvPr/>
        </p:nvSpPr>
        <p:spPr>
          <a:xfrm>
            <a:off x="5872163" y="1928813"/>
            <a:ext cx="2143125" cy="1643063"/>
          </a:xfrm>
          <a:prstGeom prst="rect">
            <a:avLst/>
          </a:prstGeom>
          <a:solidFill>
            <a:srgbClr val="EAF7EE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6057900" y="2100263"/>
            <a:ext cx="1771650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rgbClr val="16A34A"/>
                </a:solidFill>
                <a:latin typeface="Play"/>
                <a:ea typeface="Play"/>
                <a:cs typeface="Play"/>
                <a:sym typeface="Play"/>
              </a:rPr>
              <a:t>Strong</a:t>
            </a:r>
            <a:endParaRPr sz="1100"/>
          </a:p>
        </p:txBody>
      </p:sp>
      <p:sp>
        <p:nvSpPr>
          <p:cNvPr id="163" name="Google Shape;163;p17"/>
          <p:cNvSpPr/>
          <p:nvPr/>
        </p:nvSpPr>
        <p:spPr>
          <a:xfrm>
            <a:off x="6057900" y="2428875"/>
            <a:ext cx="1771650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9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crop + color jitter + blur</a:t>
            </a:r>
            <a:endParaRPr sz="1100"/>
          </a:p>
        </p:txBody>
      </p:sp>
      <p:sp>
        <p:nvSpPr>
          <p:cNvPr id="164" name="Google Shape;164;p17"/>
          <p:cNvSpPr/>
          <p:nvPr/>
        </p:nvSpPr>
        <p:spPr>
          <a:xfrm>
            <a:off x="6057900" y="2828925"/>
            <a:ext cx="1771650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6057900" y="3014663"/>
            <a:ext cx="1700213" cy="3143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Insert accuracy chart / image examples / key observation</a:t>
            </a:r>
            <a:endParaRPr sz="1100"/>
          </a:p>
        </p:txBody>
      </p:sp>
      <p:sp>
        <p:nvSpPr>
          <p:cNvPr id="166" name="Google Shape;166;p17"/>
          <p:cNvSpPr/>
          <p:nvPr/>
        </p:nvSpPr>
        <p:spPr>
          <a:xfrm>
            <a:off x="728663" y="3857625"/>
            <a:ext cx="7286625" cy="5000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900113" y="4000500"/>
            <a:ext cx="857250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TO FILL</a:t>
            </a:r>
            <a:endParaRPr sz="1100"/>
          </a:p>
        </p:txBody>
      </p:sp>
      <p:sp>
        <p:nvSpPr>
          <p:cNvPr id="168" name="Google Shape;168;p17"/>
          <p:cNvSpPr/>
          <p:nvPr/>
        </p:nvSpPr>
        <p:spPr>
          <a:xfrm>
            <a:off x="2000250" y="3964781"/>
            <a:ext cx="5643563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Best accuracy by augmentation strength, plus one sentence explaining whether stronger views helped or hurt.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E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0" y="0"/>
            <a:ext cx="157163" cy="5143500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0" y="0"/>
            <a:ext cx="157163" cy="1143000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385763" y="48577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COMP3242 Group Project - SimCLR Ablation Study</a:t>
            </a:r>
            <a:endParaRPr sz="1100"/>
          </a:p>
        </p:txBody>
      </p:sp>
      <p:sp>
        <p:nvSpPr>
          <p:cNvPr id="178" name="Google Shape;178;p18"/>
          <p:cNvSpPr/>
          <p:nvPr/>
        </p:nvSpPr>
        <p:spPr>
          <a:xfrm>
            <a:off x="8329613" y="4829175"/>
            <a:ext cx="41433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  <p:sp>
        <p:nvSpPr>
          <p:cNvPr id="179" name="Google Shape;179;p18"/>
          <p:cNvSpPr/>
          <p:nvPr/>
        </p:nvSpPr>
        <p:spPr>
          <a:xfrm>
            <a:off x="385763" y="4743450"/>
            <a:ext cx="8358188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514350" y="364331"/>
            <a:ext cx="71438" cy="71438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642938" y="328613"/>
            <a:ext cx="328612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PLACEHOLDER / CHENGBO</a:t>
            </a:r>
            <a:endParaRPr sz="1100"/>
          </a:p>
        </p:txBody>
      </p:sp>
      <p:sp>
        <p:nvSpPr>
          <p:cNvPr id="182" name="Google Shape;182;p18"/>
          <p:cNvSpPr/>
          <p:nvPr/>
        </p:nvSpPr>
        <p:spPr>
          <a:xfrm>
            <a:off x="514350" y="585788"/>
            <a:ext cx="6143625" cy="6715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200">
                <a:solidFill>
                  <a:srgbClr val="17202A"/>
                </a:solidFill>
              </a:rPr>
              <a:t>Low-label section: add slides from here.</a:t>
            </a:r>
            <a:endParaRPr b="1" sz="2200">
              <a:solidFill>
                <a:srgbClr val="17202A"/>
              </a:solidFill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514363" y="1042988"/>
            <a:ext cx="5857800" cy="257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 sz="1000">
                <a:solidFill>
                  <a:srgbClr val="5C6670"/>
                </a:solidFill>
              </a:rPr>
              <a:t>Add Subtitle Here.</a:t>
            </a:r>
            <a:endParaRPr sz="1100"/>
          </a:p>
        </p:txBody>
      </p:sp>
      <p:sp>
        <p:nvSpPr>
          <p:cNvPr id="184" name="Google Shape;184;p18"/>
          <p:cNvSpPr/>
          <p:nvPr/>
        </p:nvSpPr>
        <p:spPr>
          <a:xfrm>
            <a:off x="857250" y="1857375"/>
            <a:ext cx="7072313" cy="204311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1100138" y="2085975"/>
            <a:ext cx="1500188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sz="1100"/>
          </a:p>
        </p:txBody>
      </p:sp>
      <p:sp>
        <p:nvSpPr>
          <p:cNvPr id="186" name="Google Shape;186;p18"/>
          <p:cNvSpPr/>
          <p:nvPr/>
        </p:nvSpPr>
        <p:spPr>
          <a:xfrm>
            <a:off x="2871788" y="2085975"/>
            <a:ext cx="114300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1% labels</a:t>
            </a:r>
            <a:endParaRPr sz="1100"/>
          </a:p>
        </p:txBody>
      </p:sp>
      <p:sp>
        <p:nvSpPr>
          <p:cNvPr id="187" name="Google Shape;187;p18"/>
          <p:cNvSpPr/>
          <p:nvPr/>
        </p:nvSpPr>
        <p:spPr>
          <a:xfrm>
            <a:off x="4443413" y="2085975"/>
            <a:ext cx="114300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10% labels</a:t>
            </a:r>
            <a:endParaRPr sz="1100"/>
          </a:p>
        </p:txBody>
      </p:sp>
      <p:sp>
        <p:nvSpPr>
          <p:cNvPr id="188" name="Google Shape;188;p18"/>
          <p:cNvSpPr/>
          <p:nvPr/>
        </p:nvSpPr>
        <p:spPr>
          <a:xfrm>
            <a:off x="6015038" y="2085975"/>
            <a:ext cx="114300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100% labels</a:t>
            </a:r>
            <a:endParaRPr sz="1100"/>
          </a:p>
        </p:txBody>
      </p:sp>
      <p:sp>
        <p:nvSpPr>
          <p:cNvPr id="189" name="Google Shape;189;p18"/>
          <p:cNvSpPr/>
          <p:nvPr/>
        </p:nvSpPr>
        <p:spPr>
          <a:xfrm>
            <a:off x="1028700" y="2371725"/>
            <a:ext cx="6643688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1100138" y="2671763"/>
            <a:ext cx="152876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SimCLR + linear</a:t>
            </a:r>
            <a:endParaRPr sz="1100"/>
          </a:p>
        </p:txBody>
      </p:sp>
      <p:sp>
        <p:nvSpPr>
          <p:cNvPr id="191" name="Google Shape;191;p18"/>
          <p:cNvSpPr/>
          <p:nvPr/>
        </p:nvSpPr>
        <p:spPr>
          <a:xfrm>
            <a:off x="2914650" y="2557463"/>
            <a:ext cx="985838" cy="414338"/>
          </a:xfrm>
          <a:prstGeom prst="rect">
            <a:avLst/>
          </a:prstGeom>
          <a:solidFill>
            <a:srgbClr val="EAF7EE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2914650" y="2657475"/>
            <a:ext cx="985838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1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TBD</a:t>
            </a:r>
            <a:endParaRPr sz="1100"/>
          </a:p>
        </p:txBody>
      </p:sp>
      <p:sp>
        <p:nvSpPr>
          <p:cNvPr id="193" name="Google Shape;193;p18"/>
          <p:cNvSpPr/>
          <p:nvPr/>
        </p:nvSpPr>
        <p:spPr>
          <a:xfrm>
            <a:off x="4486275" y="2557463"/>
            <a:ext cx="985838" cy="414338"/>
          </a:xfrm>
          <a:prstGeom prst="rect">
            <a:avLst/>
          </a:prstGeom>
          <a:solidFill>
            <a:srgbClr val="EAF7EE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4486275" y="2657475"/>
            <a:ext cx="985838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1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TBD</a:t>
            </a:r>
            <a:endParaRPr sz="1100"/>
          </a:p>
        </p:txBody>
      </p:sp>
      <p:sp>
        <p:nvSpPr>
          <p:cNvPr id="195" name="Google Shape;195;p18"/>
          <p:cNvSpPr/>
          <p:nvPr/>
        </p:nvSpPr>
        <p:spPr>
          <a:xfrm>
            <a:off x="6057900" y="2557463"/>
            <a:ext cx="985838" cy="414338"/>
          </a:xfrm>
          <a:prstGeom prst="rect">
            <a:avLst/>
          </a:prstGeom>
          <a:solidFill>
            <a:srgbClr val="EAF7EE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6057900" y="2657475"/>
            <a:ext cx="985838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1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TBD</a:t>
            </a:r>
            <a:endParaRPr sz="1100"/>
          </a:p>
        </p:txBody>
      </p:sp>
      <p:sp>
        <p:nvSpPr>
          <p:cNvPr id="197" name="Google Shape;197;p18"/>
          <p:cNvSpPr/>
          <p:nvPr/>
        </p:nvSpPr>
        <p:spPr>
          <a:xfrm>
            <a:off x="1100138" y="3257550"/>
            <a:ext cx="152876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Supervised baseline</a:t>
            </a:r>
            <a:endParaRPr sz="1100"/>
          </a:p>
        </p:txBody>
      </p:sp>
      <p:sp>
        <p:nvSpPr>
          <p:cNvPr id="198" name="Google Shape;198;p18"/>
          <p:cNvSpPr/>
          <p:nvPr/>
        </p:nvSpPr>
        <p:spPr>
          <a:xfrm>
            <a:off x="2914650" y="3143250"/>
            <a:ext cx="985838" cy="414338"/>
          </a:xfrm>
          <a:prstGeom prst="rect">
            <a:avLst/>
          </a:prstGeom>
          <a:solidFill>
            <a:srgbClr val="EEE7DA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2914650" y="3243263"/>
            <a:ext cx="985838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1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TBD</a:t>
            </a:r>
            <a:endParaRPr sz="1100"/>
          </a:p>
        </p:txBody>
      </p:sp>
      <p:sp>
        <p:nvSpPr>
          <p:cNvPr id="200" name="Google Shape;200;p18"/>
          <p:cNvSpPr/>
          <p:nvPr/>
        </p:nvSpPr>
        <p:spPr>
          <a:xfrm>
            <a:off x="4486275" y="3143250"/>
            <a:ext cx="985838" cy="414338"/>
          </a:xfrm>
          <a:prstGeom prst="rect">
            <a:avLst/>
          </a:prstGeom>
          <a:solidFill>
            <a:srgbClr val="EEE7DA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4486275" y="3243263"/>
            <a:ext cx="985838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1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TBD</a:t>
            </a:r>
            <a:endParaRPr sz="1100"/>
          </a:p>
        </p:txBody>
      </p:sp>
      <p:sp>
        <p:nvSpPr>
          <p:cNvPr id="202" name="Google Shape;202;p18"/>
          <p:cNvSpPr/>
          <p:nvPr/>
        </p:nvSpPr>
        <p:spPr>
          <a:xfrm>
            <a:off x="6057900" y="3143250"/>
            <a:ext cx="985838" cy="414338"/>
          </a:xfrm>
          <a:prstGeom prst="rect">
            <a:avLst/>
          </a:prstGeom>
          <a:solidFill>
            <a:srgbClr val="EEE7DA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6057900" y="3243263"/>
            <a:ext cx="985838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1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TBD</a:t>
            </a:r>
            <a:endParaRPr sz="1100"/>
          </a:p>
        </p:txBody>
      </p:sp>
      <p:sp>
        <p:nvSpPr>
          <p:cNvPr id="204" name="Google Shape;204;p18"/>
          <p:cNvSpPr/>
          <p:nvPr/>
        </p:nvSpPr>
        <p:spPr>
          <a:xfrm>
            <a:off x="857250" y="4129088"/>
            <a:ext cx="7072313" cy="357188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172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1028700" y="4243388"/>
            <a:ext cx="785813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TO FILL</a:t>
            </a:r>
            <a:endParaRPr sz="1100"/>
          </a:p>
        </p:txBody>
      </p:sp>
      <p:sp>
        <p:nvSpPr>
          <p:cNvPr id="206" name="Google Shape;206;p18"/>
          <p:cNvSpPr/>
          <p:nvPr/>
        </p:nvSpPr>
        <p:spPr>
          <a:xfrm>
            <a:off x="2085975" y="4207669"/>
            <a:ext cx="5229225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one conclusion: where does SimCLR beat direct supervised learning most clearly?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E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0" y="0"/>
            <a:ext cx="157163" cy="5143500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0" y="0"/>
            <a:ext cx="157163" cy="11430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385763" y="48577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COMP3242 Group Project - SimCLR Ablation Study</a:t>
            </a:r>
            <a:endParaRPr sz="1100"/>
          </a:p>
        </p:txBody>
      </p:sp>
      <p:sp>
        <p:nvSpPr>
          <p:cNvPr id="216" name="Google Shape;216;p19"/>
          <p:cNvSpPr/>
          <p:nvPr/>
        </p:nvSpPr>
        <p:spPr>
          <a:xfrm>
            <a:off x="8329613" y="4829175"/>
            <a:ext cx="41433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100"/>
          </a:p>
        </p:txBody>
      </p:sp>
      <p:sp>
        <p:nvSpPr>
          <p:cNvPr id="217" name="Google Shape;217;p19"/>
          <p:cNvSpPr/>
          <p:nvPr/>
        </p:nvSpPr>
        <p:spPr>
          <a:xfrm>
            <a:off x="385763" y="4743450"/>
            <a:ext cx="8358188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514350" y="364331"/>
            <a:ext cx="71438" cy="71438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"/>
          <p:cNvSpPr/>
          <p:nvPr/>
        </p:nvSpPr>
        <p:spPr>
          <a:xfrm>
            <a:off x="642938" y="328613"/>
            <a:ext cx="328612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GUOCHEN / PROJECTION HEAD</a:t>
            </a:r>
            <a:endParaRPr sz="1100"/>
          </a:p>
        </p:txBody>
      </p:sp>
      <p:sp>
        <p:nvSpPr>
          <p:cNvPr id="220" name="Google Shape;220;p19"/>
          <p:cNvSpPr/>
          <p:nvPr/>
        </p:nvSpPr>
        <p:spPr>
          <a:xfrm>
            <a:off x="514350" y="585788"/>
            <a:ext cx="6715125" cy="628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17202A"/>
                </a:solidFill>
              </a:rPr>
              <a:t>The projection head gives SimCLR two spaces with different jobs.</a:t>
            </a:r>
            <a:endParaRPr sz="1100"/>
          </a:p>
        </p:txBody>
      </p:sp>
      <p:sp>
        <p:nvSpPr>
          <p:cNvPr id="221" name="Google Shape;221;p19"/>
          <p:cNvSpPr/>
          <p:nvPr/>
        </p:nvSpPr>
        <p:spPr>
          <a:xfrm>
            <a:off x="514338" y="1293050"/>
            <a:ext cx="5857800" cy="257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10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NT-Xent shapes the projected vector z, while linear evaluation reads the encoder feature h.</a:t>
            </a:r>
            <a:endParaRPr sz="1100"/>
          </a:p>
        </p:txBody>
      </p:sp>
      <p:sp>
        <p:nvSpPr>
          <p:cNvPr id="222" name="Google Shape;222;p19"/>
          <p:cNvSpPr/>
          <p:nvPr/>
        </p:nvSpPr>
        <p:spPr>
          <a:xfrm>
            <a:off x="585788" y="1743075"/>
            <a:ext cx="4629150" cy="2000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9"/>
          <p:cNvSpPr/>
          <p:nvPr/>
        </p:nvSpPr>
        <p:spPr>
          <a:xfrm>
            <a:off x="800100" y="1928813"/>
            <a:ext cx="15716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WITH PROJECTION HEAD</a:t>
            </a:r>
            <a:endParaRPr sz="1100"/>
          </a:p>
        </p:txBody>
      </p:sp>
      <p:sp>
        <p:nvSpPr>
          <p:cNvPr id="224" name="Google Shape;224;p19"/>
          <p:cNvSpPr/>
          <p:nvPr/>
        </p:nvSpPr>
        <p:spPr>
          <a:xfrm>
            <a:off x="800100" y="2171700"/>
            <a:ext cx="1071563" cy="6143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914400" y="2224057"/>
            <a:ext cx="842963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encoder h</a:t>
            </a:r>
            <a:endParaRPr sz="1100"/>
          </a:p>
        </p:txBody>
      </p:sp>
      <p:sp>
        <p:nvSpPr>
          <p:cNvPr id="226" name="Google Shape;226;p19"/>
          <p:cNvSpPr/>
          <p:nvPr/>
        </p:nvSpPr>
        <p:spPr>
          <a:xfrm>
            <a:off x="914400" y="2517457"/>
            <a:ext cx="842963" cy="11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512-dimensional feature</a:t>
            </a:r>
            <a:endParaRPr sz="1100"/>
          </a:p>
        </p:txBody>
      </p:sp>
      <p:sp>
        <p:nvSpPr>
          <p:cNvPr id="227" name="Google Shape;227;p19"/>
          <p:cNvSpPr/>
          <p:nvPr/>
        </p:nvSpPr>
        <p:spPr>
          <a:xfrm>
            <a:off x="1985963" y="2357438"/>
            <a:ext cx="3429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2443163" y="2171700"/>
            <a:ext cx="1214438" cy="614363"/>
          </a:xfrm>
          <a:prstGeom prst="rect">
            <a:avLst/>
          </a:prstGeom>
          <a:solidFill>
            <a:srgbClr val="EAF1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2557463" y="2225594"/>
            <a:ext cx="985838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MLP head g</a:t>
            </a:r>
            <a:endParaRPr sz="1100"/>
          </a:p>
        </p:txBody>
      </p:sp>
      <p:sp>
        <p:nvSpPr>
          <p:cNvPr id="230" name="Google Shape;230;p19"/>
          <p:cNvSpPr/>
          <p:nvPr/>
        </p:nvSpPr>
        <p:spPr>
          <a:xfrm>
            <a:off x="2557463" y="2586038"/>
            <a:ext cx="985838" cy="11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512 -&gt; 512 -&gt; 128</a:t>
            </a:r>
            <a:endParaRPr sz="1100"/>
          </a:p>
        </p:txBody>
      </p:sp>
      <p:sp>
        <p:nvSpPr>
          <p:cNvPr id="231" name="Google Shape;231;p19"/>
          <p:cNvSpPr/>
          <p:nvPr/>
        </p:nvSpPr>
        <p:spPr>
          <a:xfrm>
            <a:off x="3771900" y="2357438"/>
            <a:ext cx="271463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B277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4157663" y="2171700"/>
            <a:ext cx="942975" cy="614363"/>
          </a:xfrm>
          <a:prstGeom prst="rect">
            <a:avLst/>
          </a:prstGeom>
          <a:solidFill>
            <a:srgbClr val="FCE7F3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4286250" y="2207419"/>
            <a:ext cx="714375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DB2777"/>
                </a:solidFill>
                <a:latin typeface="Arial"/>
                <a:ea typeface="Arial"/>
                <a:cs typeface="Arial"/>
                <a:sym typeface="Arial"/>
              </a:rPr>
              <a:t>NT-Xent</a:t>
            </a:r>
            <a:endParaRPr b="1" sz="1000">
              <a:solidFill>
                <a:srgbClr val="DB27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4271963" y="2517457"/>
            <a:ext cx="714375" cy="11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on z: contrastive space</a:t>
            </a:r>
            <a:endParaRPr sz="1100"/>
          </a:p>
        </p:txBody>
      </p:sp>
      <p:sp>
        <p:nvSpPr>
          <p:cNvPr id="235" name="Google Shape;235;p19"/>
          <p:cNvSpPr/>
          <p:nvPr/>
        </p:nvSpPr>
        <p:spPr>
          <a:xfrm>
            <a:off x="804166" y="3119247"/>
            <a:ext cx="3429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1271081" y="2986088"/>
            <a:ext cx="1500188" cy="600075"/>
          </a:xfrm>
          <a:prstGeom prst="rect">
            <a:avLst/>
          </a:prstGeom>
          <a:solidFill>
            <a:srgbClr val="EAF7EE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1450181" y="3062383"/>
            <a:ext cx="1271588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linear eval</a:t>
            </a:r>
            <a:endParaRPr sz="1100"/>
          </a:p>
        </p:txBody>
      </p:sp>
      <p:sp>
        <p:nvSpPr>
          <p:cNvPr id="238" name="Google Shape;238;p19"/>
          <p:cNvSpPr/>
          <p:nvPr/>
        </p:nvSpPr>
        <p:spPr>
          <a:xfrm>
            <a:off x="1450181" y="3345703"/>
            <a:ext cx="1271588" cy="11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downstream reads h</a:t>
            </a:r>
            <a:endParaRPr sz="1100"/>
          </a:p>
        </p:txBody>
      </p:sp>
      <p:sp>
        <p:nvSpPr>
          <p:cNvPr id="239" name="Google Shape;239;p19"/>
          <p:cNvSpPr/>
          <p:nvPr/>
        </p:nvSpPr>
        <p:spPr>
          <a:xfrm>
            <a:off x="800100" y="3864769"/>
            <a:ext cx="17145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WITHOUT PROJECTION HEAD</a:t>
            </a:r>
            <a:endParaRPr sz="1100"/>
          </a:p>
        </p:txBody>
      </p:sp>
      <p:sp>
        <p:nvSpPr>
          <p:cNvPr id="240" name="Google Shape;240;p19"/>
          <p:cNvSpPr/>
          <p:nvPr/>
        </p:nvSpPr>
        <p:spPr>
          <a:xfrm>
            <a:off x="800100" y="4086225"/>
            <a:ext cx="1071563" cy="5000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914400" y="4157663"/>
            <a:ext cx="842963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encoder h</a:t>
            </a:r>
            <a:endParaRPr sz="1100"/>
          </a:p>
        </p:txBody>
      </p:sp>
      <p:sp>
        <p:nvSpPr>
          <p:cNvPr id="242" name="Google Shape;242;p19"/>
          <p:cNvSpPr/>
          <p:nvPr/>
        </p:nvSpPr>
        <p:spPr>
          <a:xfrm>
            <a:off x="914400" y="4400550"/>
            <a:ext cx="842963" cy="11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same feature</a:t>
            </a:r>
            <a:endParaRPr sz="1100"/>
          </a:p>
        </p:txBody>
      </p:sp>
      <p:sp>
        <p:nvSpPr>
          <p:cNvPr id="243" name="Google Shape;243;p19"/>
          <p:cNvSpPr/>
          <p:nvPr/>
        </p:nvSpPr>
        <p:spPr>
          <a:xfrm>
            <a:off x="1985963" y="4229100"/>
            <a:ext cx="3429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2443163" y="4086225"/>
            <a:ext cx="1857375" cy="500063"/>
          </a:xfrm>
          <a:prstGeom prst="rect">
            <a:avLst/>
          </a:prstGeom>
          <a:solidFill>
            <a:srgbClr val="FFF4E4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2557463" y="4157663"/>
            <a:ext cx="1628775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NT-Xent directly on h</a:t>
            </a:r>
            <a:endParaRPr sz="1100"/>
          </a:p>
        </p:txBody>
      </p:sp>
      <p:sp>
        <p:nvSpPr>
          <p:cNvPr id="246" name="Google Shape;246;p19"/>
          <p:cNvSpPr/>
          <p:nvPr/>
        </p:nvSpPr>
        <p:spPr>
          <a:xfrm>
            <a:off x="2557463" y="4400550"/>
            <a:ext cx="1628775" cy="11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one space carries both jobs</a:t>
            </a:r>
            <a:endParaRPr sz="1100"/>
          </a:p>
        </p:txBody>
      </p:sp>
      <p:sp>
        <p:nvSpPr>
          <p:cNvPr id="247" name="Google Shape;247;p19"/>
          <p:cNvSpPr/>
          <p:nvPr/>
        </p:nvSpPr>
        <p:spPr>
          <a:xfrm>
            <a:off x="5329238" y="1743617"/>
            <a:ext cx="2828925" cy="2014538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172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529277" y="1957400"/>
            <a:ext cx="2436900" cy="243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Two spaces, two objectives</a:t>
            </a:r>
            <a:endParaRPr sz="1100"/>
          </a:p>
        </p:txBody>
      </p:sp>
      <p:sp>
        <p:nvSpPr>
          <p:cNvPr id="249" name="Google Shape;249;p19"/>
          <p:cNvSpPr/>
          <p:nvPr/>
        </p:nvSpPr>
        <p:spPr>
          <a:xfrm>
            <a:off x="5643563" y="2357438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h-space</a:t>
            </a:r>
            <a:endParaRPr sz="1100"/>
          </a:p>
        </p:txBody>
      </p:sp>
      <p:sp>
        <p:nvSpPr>
          <p:cNvPr id="250" name="Google Shape;250;p19"/>
          <p:cNvSpPr/>
          <p:nvPr/>
        </p:nvSpPr>
        <p:spPr>
          <a:xfrm>
            <a:off x="5643563" y="2528888"/>
            <a:ext cx="1471613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DDE6EF"/>
                </a:solidFill>
                <a:latin typeface="Arial"/>
                <a:ea typeface="Arial"/>
                <a:cs typeface="Arial"/>
                <a:sym typeface="Arial"/>
              </a:rPr>
              <a:t>kept for downstream semantics</a:t>
            </a:r>
            <a:endParaRPr sz="1100"/>
          </a:p>
        </p:txBody>
      </p:sp>
      <p:sp>
        <p:nvSpPr>
          <p:cNvPr id="251" name="Google Shape;251;p19"/>
          <p:cNvSpPr/>
          <p:nvPr/>
        </p:nvSpPr>
        <p:spPr>
          <a:xfrm>
            <a:off x="7243763" y="2328863"/>
            <a:ext cx="657225" cy="457200"/>
          </a:xfrm>
          <a:prstGeom prst="rect">
            <a:avLst/>
          </a:prstGeom>
          <a:solidFill>
            <a:srgbClr val="233142"/>
          </a:solidFill>
          <a:ln cap="flat" cmpd="sng" w="9525">
            <a:solidFill>
              <a:srgbClr val="3E4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7337488" y="2432876"/>
            <a:ext cx="71438" cy="71438"/>
          </a:xfrm>
          <a:prstGeom prst="ellipse">
            <a:avLst/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7370064" y="2474024"/>
            <a:ext cx="71438" cy="71438"/>
          </a:xfrm>
          <a:prstGeom prst="ellipse">
            <a:avLst/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7402640" y="2443163"/>
            <a:ext cx="71438" cy="71438"/>
          </a:xfrm>
          <a:prstGeom prst="ellipse">
            <a:avLst/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7435215" y="2480882"/>
            <a:ext cx="71438" cy="71438"/>
          </a:xfrm>
          <a:prstGeom prst="ellipse">
            <a:avLst/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7587234" y="2439734"/>
            <a:ext cx="71438" cy="71438"/>
          </a:xfrm>
          <a:prstGeom prst="ellipse">
            <a:avLst/>
          </a:prstGeom>
          <a:solidFill>
            <a:srgbClr val="0284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9"/>
          <p:cNvSpPr/>
          <p:nvPr/>
        </p:nvSpPr>
        <p:spPr>
          <a:xfrm>
            <a:off x="7630668" y="2474024"/>
            <a:ext cx="71438" cy="71438"/>
          </a:xfrm>
          <a:prstGeom prst="ellipse">
            <a:avLst/>
          </a:prstGeom>
          <a:solidFill>
            <a:srgbClr val="0284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7663244" y="2443163"/>
            <a:ext cx="71438" cy="71438"/>
          </a:xfrm>
          <a:prstGeom prst="ellipse">
            <a:avLst/>
          </a:prstGeom>
          <a:solidFill>
            <a:srgbClr val="0284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7706678" y="2487740"/>
            <a:ext cx="71438" cy="71438"/>
          </a:xfrm>
          <a:prstGeom prst="ellipse">
            <a:avLst/>
          </a:prstGeom>
          <a:solidFill>
            <a:srgbClr val="0284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7456932" y="2590610"/>
            <a:ext cx="71438" cy="71438"/>
          </a:xfrm>
          <a:prstGeom prst="ellipse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7500366" y="2624900"/>
            <a:ext cx="71438" cy="71438"/>
          </a:xfrm>
          <a:prstGeom prst="ellipse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9"/>
          <p:cNvSpPr/>
          <p:nvPr/>
        </p:nvSpPr>
        <p:spPr>
          <a:xfrm>
            <a:off x="7543800" y="2583752"/>
            <a:ext cx="71438" cy="71438"/>
          </a:xfrm>
          <a:prstGeom prst="ellipse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9"/>
          <p:cNvSpPr/>
          <p:nvPr/>
        </p:nvSpPr>
        <p:spPr>
          <a:xfrm>
            <a:off x="7587234" y="2631757"/>
            <a:ext cx="71438" cy="71438"/>
          </a:xfrm>
          <a:prstGeom prst="ellipse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5643563" y="300037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DB2777"/>
                </a:solidFill>
                <a:latin typeface="Arial"/>
                <a:ea typeface="Arial"/>
                <a:cs typeface="Arial"/>
                <a:sym typeface="Arial"/>
              </a:rPr>
              <a:t>z-space</a:t>
            </a:r>
            <a:endParaRPr sz="1100"/>
          </a:p>
        </p:txBody>
      </p:sp>
      <p:sp>
        <p:nvSpPr>
          <p:cNvPr id="265" name="Google Shape;265;p19"/>
          <p:cNvSpPr/>
          <p:nvPr/>
        </p:nvSpPr>
        <p:spPr>
          <a:xfrm>
            <a:off x="5643563" y="3171825"/>
            <a:ext cx="15716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DDE6EF"/>
                </a:solidFill>
                <a:latin typeface="Arial"/>
                <a:ea typeface="Arial"/>
                <a:cs typeface="Arial"/>
                <a:sym typeface="Arial"/>
              </a:rPr>
              <a:t>optimized for contrastive separation</a:t>
            </a:r>
            <a:endParaRPr sz="1100"/>
          </a:p>
        </p:txBody>
      </p:sp>
      <p:sp>
        <p:nvSpPr>
          <p:cNvPr id="266" name="Google Shape;266;p19"/>
          <p:cNvSpPr/>
          <p:nvPr/>
        </p:nvSpPr>
        <p:spPr>
          <a:xfrm>
            <a:off x="7243763" y="2971800"/>
            <a:ext cx="657225" cy="457200"/>
          </a:xfrm>
          <a:prstGeom prst="rect">
            <a:avLst/>
          </a:prstGeom>
          <a:solidFill>
            <a:srgbClr val="233142"/>
          </a:solidFill>
          <a:ln cap="flat" cmpd="sng" w="9525">
            <a:solidFill>
              <a:srgbClr val="3E4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9"/>
          <p:cNvSpPr/>
          <p:nvPr/>
        </p:nvSpPr>
        <p:spPr>
          <a:xfrm>
            <a:off x="7337488" y="3075813"/>
            <a:ext cx="71438" cy="71438"/>
          </a:xfrm>
          <a:prstGeom prst="ellipse">
            <a:avLst/>
          </a:prstGeom>
          <a:solidFill>
            <a:srgbClr val="DB277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7370064" y="3116961"/>
            <a:ext cx="71438" cy="71438"/>
          </a:xfrm>
          <a:prstGeom prst="ellipse">
            <a:avLst/>
          </a:prstGeom>
          <a:solidFill>
            <a:srgbClr val="DB277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9"/>
          <p:cNvSpPr/>
          <p:nvPr/>
        </p:nvSpPr>
        <p:spPr>
          <a:xfrm>
            <a:off x="7402640" y="3086100"/>
            <a:ext cx="71438" cy="71438"/>
          </a:xfrm>
          <a:prstGeom prst="ellipse">
            <a:avLst/>
          </a:prstGeom>
          <a:solidFill>
            <a:srgbClr val="DB277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9"/>
          <p:cNvSpPr/>
          <p:nvPr/>
        </p:nvSpPr>
        <p:spPr>
          <a:xfrm>
            <a:off x="7435215" y="3123819"/>
            <a:ext cx="71438" cy="71438"/>
          </a:xfrm>
          <a:prstGeom prst="ellipse">
            <a:avLst/>
          </a:prstGeom>
          <a:solidFill>
            <a:srgbClr val="DB277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7587234" y="3082671"/>
            <a:ext cx="71438" cy="71438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9"/>
          <p:cNvSpPr/>
          <p:nvPr/>
        </p:nvSpPr>
        <p:spPr>
          <a:xfrm>
            <a:off x="7630668" y="3116961"/>
            <a:ext cx="71438" cy="71438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7663244" y="3086100"/>
            <a:ext cx="71438" cy="71438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9"/>
          <p:cNvSpPr/>
          <p:nvPr/>
        </p:nvSpPr>
        <p:spPr>
          <a:xfrm>
            <a:off x="7706678" y="3130677"/>
            <a:ext cx="71438" cy="71438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9"/>
          <p:cNvSpPr/>
          <p:nvPr/>
        </p:nvSpPr>
        <p:spPr>
          <a:xfrm>
            <a:off x="7456932" y="3233547"/>
            <a:ext cx="71438" cy="71438"/>
          </a:xfrm>
          <a:prstGeom prst="ellipse">
            <a:avLst/>
          </a:prstGeom>
          <a:solidFill>
            <a:srgbClr val="DC262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9"/>
          <p:cNvSpPr/>
          <p:nvPr/>
        </p:nvSpPr>
        <p:spPr>
          <a:xfrm>
            <a:off x="7500366" y="3267837"/>
            <a:ext cx="71438" cy="71438"/>
          </a:xfrm>
          <a:prstGeom prst="ellipse">
            <a:avLst/>
          </a:prstGeom>
          <a:solidFill>
            <a:srgbClr val="DC262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9"/>
          <p:cNvSpPr/>
          <p:nvPr/>
        </p:nvSpPr>
        <p:spPr>
          <a:xfrm>
            <a:off x="7543800" y="3226689"/>
            <a:ext cx="71438" cy="71438"/>
          </a:xfrm>
          <a:prstGeom prst="ellipse">
            <a:avLst/>
          </a:prstGeom>
          <a:solidFill>
            <a:srgbClr val="DC262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9"/>
          <p:cNvSpPr/>
          <p:nvPr/>
        </p:nvSpPr>
        <p:spPr>
          <a:xfrm>
            <a:off x="7587234" y="3274695"/>
            <a:ext cx="71438" cy="71438"/>
          </a:xfrm>
          <a:prstGeom prst="ellipse">
            <a:avLst/>
          </a:prstGeom>
          <a:solidFill>
            <a:srgbClr val="DC262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5257800" y="4071938"/>
            <a:ext cx="1343025" cy="5143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9"/>
          <p:cNvSpPr/>
          <p:nvPr/>
        </p:nvSpPr>
        <p:spPr>
          <a:xfrm>
            <a:off x="5261088" y="4071938"/>
            <a:ext cx="42863" cy="5143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9"/>
          <p:cNvSpPr/>
          <p:nvPr/>
        </p:nvSpPr>
        <p:spPr>
          <a:xfrm>
            <a:off x="5429250" y="4127460"/>
            <a:ext cx="1071563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700">
                <a:solidFill>
                  <a:srgbClr val="2563EB"/>
                </a:solidFill>
                <a:latin typeface="Play"/>
                <a:ea typeface="Play"/>
                <a:cs typeface="Play"/>
                <a:sym typeface="Play"/>
              </a:rPr>
              <a:t>+1.43 %</a:t>
            </a:r>
            <a:endParaRPr sz="1100"/>
          </a:p>
        </p:txBody>
      </p:sp>
      <p:sp>
        <p:nvSpPr>
          <p:cNvPr id="282" name="Google Shape;282;p19"/>
          <p:cNvSpPr/>
          <p:nvPr/>
        </p:nvSpPr>
        <p:spPr>
          <a:xfrm>
            <a:off x="5429250" y="4429125"/>
            <a:ext cx="1071563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best-accuracy gain</a:t>
            </a:r>
            <a:endParaRPr sz="1100"/>
          </a:p>
        </p:txBody>
      </p:sp>
      <p:sp>
        <p:nvSpPr>
          <p:cNvPr id="283" name="Google Shape;283;p19"/>
          <p:cNvSpPr/>
          <p:nvPr/>
        </p:nvSpPr>
        <p:spPr>
          <a:xfrm>
            <a:off x="6796419" y="4079081"/>
            <a:ext cx="1314450" cy="514350"/>
          </a:xfrm>
          <a:prstGeom prst="rect">
            <a:avLst/>
          </a:prstGeom>
          <a:solidFill>
            <a:srgbClr val="EAF1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6966032" y="4155995"/>
            <a:ext cx="10001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Result preview</a:t>
            </a:r>
            <a:endParaRPr sz="1100"/>
          </a:p>
        </p:txBody>
      </p:sp>
      <p:sp>
        <p:nvSpPr>
          <p:cNvPr id="285" name="Google Shape;285;p19"/>
          <p:cNvSpPr/>
          <p:nvPr/>
        </p:nvSpPr>
        <p:spPr>
          <a:xfrm>
            <a:off x="6966032" y="4331428"/>
            <a:ext cx="985838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63.59% with head vs. 62.16% without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E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0"/>
          <p:cNvSpPr/>
          <p:nvPr/>
        </p:nvSpPr>
        <p:spPr>
          <a:xfrm>
            <a:off x="0" y="0"/>
            <a:ext cx="157163" cy="5143500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0"/>
          <p:cNvSpPr/>
          <p:nvPr/>
        </p:nvSpPr>
        <p:spPr>
          <a:xfrm>
            <a:off x="0" y="0"/>
            <a:ext cx="157163" cy="11430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0"/>
          <p:cNvSpPr/>
          <p:nvPr/>
        </p:nvSpPr>
        <p:spPr>
          <a:xfrm>
            <a:off x="385763" y="48577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COMP3242 Group Project - SimCLR Ablation Study</a:t>
            </a:r>
            <a:endParaRPr sz="1100"/>
          </a:p>
        </p:txBody>
      </p:sp>
      <p:sp>
        <p:nvSpPr>
          <p:cNvPr id="295" name="Google Shape;295;p20"/>
          <p:cNvSpPr/>
          <p:nvPr/>
        </p:nvSpPr>
        <p:spPr>
          <a:xfrm>
            <a:off x="8329613" y="4829175"/>
            <a:ext cx="41433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100"/>
          </a:p>
        </p:txBody>
      </p:sp>
      <p:sp>
        <p:nvSpPr>
          <p:cNvPr id="296" name="Google Shape;296;p20"/>
          <p:cNvSpPr/>
          <p:nvPr/>
        </p:nvSpPr>
        <p:spPr>
          <a:xfrm>
            <a:off x="385763" y="4743450"/>
            <a:ext cx="8358188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0"/>
          <p:cNvSpPr/>
          <p:nvPr/>
        </p:nvSpPr>
        <p:spPr>
          <a:xfrm>
            <a:off x="514350" y="364331"/>
            <a:ext cx="71438" cy="71438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0"/>
          <p:cNvSpPr/>
          <p:nvPr/>
        </p:nvSpPr>
        <p:spPr>
          <a:xfrm>
            <a:off x="642938" y="328613"/>
            <a:ext cx="328612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GUOCHEN / PROJECTION HEAD RESULT</a:t>
            </a:r>
            <a:endParaRPr sz="1100"/>
          </a:p>
        </p:txBody>
      </p:sp>
      <p:sp>
        <p:nvSpPr>
          <p:cNvPr id="299" name="Google Shape;299;p20"/>
          <p:cNvSpPr/>
          <p:nvPr/>
        </p:nvSpPr>
        <p:spPr>
          <a:xfrm>
            <a:off x="514350" y="585788"/>
            <a:ext cx="6643688" cy="6715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17202A"/>
                </a:solidFill>
              </a:rPr>
              <a:t>Using the projection head improves best linear accuracy by 1.43%.</a:t>
            </a:r>
            <a:endParaRPr sz="1100"/>
          </a:p>
        </p:txBody>
      </p:sp>
      <p:sp>
        <p:nvSpPr>
          <p:cNvPr id="300" name="Google Shape;300;p20"/>
          <p:cNvSpPr/>
          <p:nvPr/>
        </p:nvSpPr>
        <p:spPr>
          <a:xfrm>
            <a:off x="528638" y="1257300"/>
            <a:ext cx="6429375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10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The gain is small but consistent across best and final accuracy, which supports the separate-space interpretation.</a:t>
            </a:r>
            <a:endParaRPr sz="1100"/>
          </a:p>
        </p:txBody>
      </p:sp>
      <p:sp>
        <p:nvSpPr>
          <p:cNvPr id="301" name="Google Shape;301;p20"/>
          <p:cNvSpPr/>
          <p:nvPr/>
        </p:nvSpPr>
        <p:spPr>
          <a:xfrm>
            <a:off x="585788" y="1785938"/>
            <a:ext cx="3857625" cy="227171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0"/>
          <p:cNvSpPr/>
          <p:nvPr/>
        </p:nvSpPr>
        <p:spPr>
          <a:xfrm>
            <a:off x="885825" y="3371850"/>
            <a:ext cx="3243263" cy="14288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0"/>
          <p:cNvSpPr/>
          <p:nvPr/>
        </p:nvSpPr>
        <p:spPr>
          <a:xfrm>
            <a:off x="885825" y="2085975"/>
            <a:ext cx="324326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Linear-evaluation accuracy on frozen CIFAR-10 features</a:t>
            </a:r>
            <a:endParaRPr sz="1100"/>
          </a:p>
        </p:txBody>
      </p:sp>
      <p:sp>
        <p:nvSpPr>
          <p:cNvPr id="304" name="Google Shape;304;p20"/>
          <p:cNvSpPr/>
          <p:nvPr/>
        </p:nvSpPr>
        <p:spPr>
          <a:xfrm>
            <a:off x="1057275" y="2666583"/>
            <a:ext cx="596504" cy="705267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0"/>
          <p:cNvSpPr/>
          <p:nvPr/>
        </p:nvSpPr>
        <p:spPr>
          <a:xfrm>
            <a:off x="985838" y="2452271"/>
            <a:ext cx="739379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63.59%</a:t>
            </a:r>
            <a:endParaRPr sz="1100"/>
          </a:p>
        </p:txBody>
      </p:sp>
      <p:sp>
        <p:nvSpPr>
          <p:cNvPr id="306" name="Google Shape;306;p20"/>
          <p:cNvSpPr/>
          <p:nvPr/>
        </p:nvSpPr>
        <p:spPr>
          <a:xfrm>
            <a:off x="1057275" y="3443288"/>
            <a:ext cx="596504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with head</a:t>
            </a:r>
            <a:endParaRPr sz="1100"/>
          </a:p>
        </p:txBody>
      </p:sp>
      <p:sp>
        <p:nvSpPr>
          <p:cNvPr id="307" name="Google Shape;307;p20"/>
          <p:cNvSpPr/>
          <p:nvPr/>
        </p:nvSpPr>
        <p:spPr>
          <a:xfrm>
            <a:off x="1057275" y="3600450"/>
            <a:ext cx="596504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5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best epoch 77</a:t>
            </a:r>
            <a:endParaRPr sz="1100"/>
          </a:p>
        </p:txBody>
      </p:sp>
      <p:sp>
        <p:nvSpPr>
          <p:cNvPr id="308" name="Google Shape;308;p20"/>
          <p:cNvSpPr/>
          <p:nvPr/>
        </p:nvSpPr>
        <p:spPr>
          <a:xfrm>
            <a:off x="1825228" y="2947511"/>
            <a:ext cx="596504" cy="424339"/>
          </a:xfrm>
          <a:prstGeom prst="rect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0"/>
          <p:cNvSpPr/>
          <p:nvPr/>
        </p:nvSpPr>
        <p:spPr>
          <a:xfrm>
            <a:off x="1753791" y="2733199"/>
            <a:ext cx="739379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62.16%</a:t>
            </a:r>
            <a:endParaRPr sz="1100"/>
          </a:p>
        </p:txBody>
      </p:sp>
      <p:sp>
        <p:nvSpPr>
          <p:cNvPr id="310" name="Google Shape;310;p20"/>
          <p:cNvSpPr/>
          <p:nvPr/>
        </p:nvSpPr>
        <p:spPr>
          <a:xfrm>
            <a:off x="1825228" y="3443288"/>
            <a:ext cx="596504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without</a:t>
            </a:r>
            <a:endParaRPr sz="1100"/>
          </a:p>
        </p:txBody>
      </p:sp>
      <p:sp>
        <p:nvSpPr>
          <p:cNvPr id="311" name="Google Shape;311;p20"/>
          <p:cNvSpPr/>
          <p:nvPr/>
        </p:nvSpPr>
        <p:spPr>
          <a:xfrm>
            <a:off x="1825228" y="3600450"/>
            <a:ext cx="596504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5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best epoch 15</a:t>
            </a:r>
            <a:endParaRPr sz="1100"/>
          </a:p>
        </p:txBody>
      </p:sp>
      <p:sp>
        <p:nvSpPr>
          <p:cNvPr id="312" name="Google Shape;312;p20"/>
          <p:cNvSpPr/>
          <p:nvPr/>
        </p:nvSpPr>
        <p:spPr>
          <a:xfrm>
            <a:off x="2593181" y="2813923"/>
            <a:ext cx="596504" cy="557927"/>
          </a:xfrm>
          <a:prstGeom prst="rect">
            <a:avLst/>
          </a:prstGeom>
          <a:solidFill>
            <a:srgbClr val="0284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0"/>
          <p:cNvSpPr/>
          <p:nvPr/>
        </p:nvSpPr>
        <p:spPr>
          <a:xfrm>
            <a:off x="2521744" y="2599610"/>
            <a:ext cx="739379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62.84%</a:t>
            </a:r>
            <a:endParaRPr sz="1100"/>
          </a:p>
        </p:txBody>
      </p:sp>
      <p:sp>
        <p:nvSpPr>
          <p:cNvPr id="314" name="Google Shape;314;p20"/>
          <p:cNvSpPr/>
          <p:nvPr/>
        </p:nvSpPr>
        <p:spPr>
          <a:xfrm>
            <a:off x="2593181" y="3443288"/>
            <a:ext cx="596504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with head</a:t>
            </a:r>
            <a:endParaRPr sz="1100"/>
          </a:p>
        </p:txBody>
      </p:sp>
      <p:sp>
        <p:nvSpPr>
          <p:cNvPr id="315" name="Google Shape;315;p20"/>
          <p:cNvSpPr/>
          <p:nvPr/>
        </p:nvSpPr>
        <p:spPr>
          <a:xfrm>
            <a:off x="2593181" y="3600450"/>
            <a:ext cx="596504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5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sz="1100"/>
          </a:p>
        </p:txBody>
      </p:sp>
      <p:sp>
        <p:nvSpPr>
          <p:cNvPr id="316" name="Google Shape;316;p20"/>
          <p:cNvSpPr/>
          <p:nvPr/>
        </p:nvSpPr>
        <p:spPr>
          <a:xfrm>
            <a:off x="3361135" y="3096816"/>
            <a:ext cx="596503" cy="275034"/>
          </a:xfrm>
          <a:prstGeom prst="rect">
            <a:avLst/>
          </a:prstGeom>
          <a:solidFill>
            <a:srgbClr val="DC262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0"/>
          <p:cNvSpPr/>
          <p:nvPr/>
        </p:nvSpPr>
        <p:spPr>
          <a:xfrm>
            <a:off x="3289697" y="2882503"/>
            <a:ext cx="739378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61.40%</a:t>
            </a:r>
            <a:endParaRPr sz="1100"/>
          </a:p>
        </p:txBody>
      </p:sp>
      <p:sp>
        <p:nvSpPr>
          <p:cNvPr id="318" name="Google Shape;318;p20"/>
          <p:cNvSpPr/>
          <p:nvPr/>
        </p:nvSpPr>
        <p:spPr>
          <a:xfrm>
            <a:off x="3361135" y="3443288"/>
            <a:ext cx="59650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without</a:t>
            </a:r>
            <a:endParaRPr sz="1100"/>
          </a:p>
        </p:txBody>
      </p:sp>
      <p:sp>
        <p:nvSpPr>
          <p:cNvPr id="319" name="Google Shape;319;p20"/>
          <p:cNvSpPr/>
          <p:nvPr/>
        </p:nvSpPr>
        <p:spPr>
          <a:xfrm>
            <a:off x="3361135" y="3600450"/>
            <a:ext cx="596503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5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sz="1100"/>
          </a:p>
        </p:txBody>
      </p:sp>
      <p:sp>
        <p:nvSpPr>
          <p:cNvPr id="320" name="Google Shape;320;p20"/>
          <p:cNvSpPr/>
          <p:nvPr/>
        </p:nvSpPr>
        <p:spPr>
          <a:xfrm>
            <a:off x="514350" y="3278981"/>
            <a:ext cx="300038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6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 sz="1100"/>
          </a:p>
        </p:txBody>
      </p:sp>
      <p:sp>
        <p:nvSpPr>
          <p:cNvPr id="321" name="Google Shape;321;p20"/>
          <p:cNvSpPr/>
          <p:nvPr/>
        </p:nvSpPr>
        <p:spPr>
          <a:xfrm>
            <a:off x="514350" y="2528888"/>
            <a:ext cx="300038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6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64</a:t>
            </a:r>
            <a:endParaRPr sz="1100"/>
          </a:p>
        </p:txBody>
      </p:sp>
      <p:pic>
        <p:nvPicPr>
          <p:cNvPr id="322" name="Google Shape;32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625" y="1757363"/>
            <a:ext cx="3086100" cy="1928813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/>
          <p:nvPr/>
        </p:nvSpPr>
        <p:spPr>
          <a:xfrm>
            <a:off x="4786313" y="3829050"/>
            <a:ext cx="148590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0"/>
          <p:cNvSpPr/>
          <p:nvPr/>
        </p:nvSpPr>
        <p:spPr>
          <a:xfrm>
            <a:off x="4786313" y="3829050"/>
            <a:ext cx="42863" cy="6858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0"/>
          <p:cNvSpPr/>
          <p:nvPr/>
        </p:nvSpPr>
        <p:spPr>
          <a:xfrm>
            <a:off x="4943475" y="3957638"/>
            <a:ext cx="1385888" cy="3143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900">
                <a:solidFill>
                  <a:srgbClr val="2563EB"/>
                </a:solidFill>
                <a:latin typeface="Play"/>
                <a:ea typeface="Play"/>
                <a:cs typeface="Play"/>
                <a:sym typeface="Play"/>
              </a:rPr>
              <a:t>63.59%</a:t>
            </a:r>
            <a:endParaRPr sz="1100"/>
          </a:p>
        </p:txBody>
      </p:sp>
      <p:sp>
        <p:nvSpPr>
          <p:cNvPr id="326" name="Google Shape;326;p20"/>
          <p:cNvSpPr/>
          <p:nvPr/>
        </p:nvSpPr>
        <p:spPr>
          <a:xfrm>
            <a:off x="4943475" y="4286250"/>
            <a:ext cx="1385888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best accuracy with head</a:t>
            </a:r>
            <a:endParaRPr sz="1100"/>
          </a:p>
        </p:txBody>
      </p:sp>
      <p:sp>
        <p:nvSpPr>
          <p:cNvPr id="327" name="Google Shape;327;p20"/>
          <p:cNvSpPr/>
          <p:nvPr/>
        </p:nvSpPr>
        <p:spPr>
          <a:xfrm>
            <a:off x="6657975" y="3829050"/>
            <a:ext cx="148590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0"/>
          <p:cNvSpPr/>
          <p:nvPr/>
        </p:nvSpPr>
        <p:spPr>
          <a:xfrm>
            <a:off x="6657975" y="3829050"/>
            <a:ext cx="42863" cy="685800"/>
          </a:xfrm>
          <a:prstGeom prst="rect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6815138" y="3957638"/>
            <a:ext cx="1385888" cy="3143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900">
                <a:solidFill>
                  <a:srgbClr val="D97706"/>
                </a:solidFill>
                <a:latin typeface="Play"/>
                <a:ea typeface="Play"/>
                <a:cs typeface="Play"/>
                <a:sym typeface="Play"/>
              </a:rPr>
              <a:t>62.16%</a:t>
            </a:r>
            <a:endParaRPr sz="1100"/>
          </a:p>
        </p:txBody>
      </p:sp>
      <p:sp>
        <p:nvSpPr>
          <p:cNvPr id="330" name="Google Shape;330;p20"/>
          <p:cNvSpPr/>
          <p:nvPr/>
        </p:nvSpPr>
        <p:spPr>
          <a:xfrm>
            <a:off x="6815138" y="4286250"/>
            <a:ext cx="1385888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best accuracy without</a:t>
            </a:r>
            <a:endParaRPr sz="1100"/>
          </a:p>
        </p:txBody>
      </p:sp>
      <p:sp>
        <p:nvSpPr>
          <p:cNvPr id="331" name="Google Shape;331;p20"/>
          <p:cNvSpPr/>
          <p:nvPr/>
        </p:nvSpPr>
        <p:spPr>
          <a:xfrm>
            <a:off x="657225" y="4486275"/>
            <a:ext cx="4286250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6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Source: feature_eval/projection_head_ablation/summary.csv</a:t>
            </a:r>
            <a:endParaRPr b="0" sz="600">
              <a:solidFill>
                <a:srgbClr val="5C667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E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1"/>
          <p:cNvSpPr/>
          <p:nvPr/>
        </p:nvSpPr>
        <p:spPr>
          <a:xfrm>
            <a:off x="0" y="0"/>
            <a:ext cx="157163" cy="5143500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1"/>
          <p:cNvSpPr/>
          <p:nvPr/>
        </p:nvSpPr>
        <p:spPr>
          <a:xfrm>
            <a:off x="0" y="0"/>
            <a:ext cx="157163" cy="11430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1"/>
          <p:cNvSpPr/>
          <p:nvPr/>
        </p:nvSpPr>
        <p:spPr>
          <a:xfrm>
            <a:off x="385763" y="48577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COMP3242 Group Project - SimCLR Ablation Study</a:t>
            </a:r>
            <a:endParaRPr sz="1100"/>
          </a:p>
        </p:txBody>
      </p:sp>
      <p:sp>
        <p:nvSpPr>
          <p:cNvPr id="341" name="Google Shape;341;p21"/>
          <p:cNvSpPr/>
          <p:nvPr/>
        </p:nvSpPr>
        <p:spPr>
          <a:xfrm>
            <a:off x="8329613" y="4829175"/>
            <a:ext cx="41433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100"/>
          </a:p>
        </p:txBody>
      </p:sp>
      <p:sp>
        <p:nvSpPr>
          <p:cNvPr id="342" name="Google Shape;342;p21"/>
          <p:cNvSpPr/>
          <p:nvPr/>
        </p:nvSpPr>
        <p:spPr>
          <a:xfrm>
            <a:off x="385763" y="4743450"/>
            <a:ext cx="8358188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1"/>
          <p:cNvSpPr/>
          <p:nvPr/>
        </p:nvSpPr>
        <p:spPr>
          <a:xfrm>
            <a:off x="514350" y="364331"/>
            <a:ext cx="71438" cy="71438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642938" y="328613"/>
            <a:ext cx="328612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GUOCHEN / BATCH SIZE RESULT</a:t>
            </a:r>
            <a:endParaRPr sz="1100"/>
          </a:p>
        </p:txBody>
      </p:sp>
      <p:sp>
        <p:nvSpPr>
          <p:cNvPr id="345" name="Google Shape;345;p21"/>
          <p:cNvSpPr/>
          <p:nvPr/>
        </p:nvSpPr>
        <p:spPr>
          <a:xfrm>
            <a:off x="514350" y="585788"/>
            <a:ext cx="6429375" cy="6715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17202A"/>
                </a:solidFill>
              </a:rPr>
              <a:t>More negatives did not monotonically improve in our setting.</a:t>
            </a:r>
            <a:endParaRPr sz="1100"/>
          </a:p>
        </p:txBody>
      </p:sp>
      <p:sp>
        <p:nvSpPr>
          <p:cNvPr id="346" name="Google Shape;346;p21"/>
          <p:cNvSpPr/>
          <p:nvPr/>
        </p:nvSpPr>
        <p:spPr>
          <a:xfrm>
            <a:off x="528638" y="1257300"/>
            <a:ext cx="6500813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10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Batch size changes the number of negatives, but it also changes optimization behavior under a fixed training schedule.</a:t>
            </a:r>
            <a:endParaRPr sz="1100"/>
          </a:p>
        </p:txBody>
      </p:sp>
      <p:sp>
        <p:nvSpPr>
          <p:cNvPr id="347" name="Google Shape;347;p21"/>
          <p:cNvSpPr/>
          <p:nvPr/>
        </p:nvSpPr>
        <p:spPr>
          <a:xfrm>
            <a:off x="557213" y="1771650"/>
            <a:ext cx="4229100" cy="235743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1"/>
          <p:cNvSpPr/>
          <p:nvPr/>
        </p:nvSpPr>
        <p:spPr>
          <a:xfrm>
            <a:off x="885825" y="3429000"/>
            <a:ext cx="3571875" cy="14288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1"/>
          <p:cNvSpPr/>
          <p:nvPr/>
        </p:nvSpPr>
        <p:spPr>
          <a:xfrm>
            <a:off x="885825" y="2071688"/>
            <a:ext cx="35718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Best linear-evaluation accuracy by pretraining batch size (axis: 56-64%)</a:t>
            </a:r>
            <a:endParaRPr sz="1100"/>
          </a:p>
        </p:txBody>
      </p:sp>
      <p:sp>
        <p:nvSpPr>
          <p:cNvPr id="350" name="Google Shape;350;p21"/>
          <p:cNvSpPr/>
          <p:nvPr/>
        </p:nvSpPr>
        <p:spPr>
          <a:xfrm>
            <a:off x="1114425" y="2728199"/>
            <a:ext cx="607219" cy="700802"/>
          </a:xfrm>
          <a:prstGeom prst="rect">
            <a:avLst/>
          </a:prstGeom>
          <a:solidFill>
            <a:srgbClr val="0284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1"/>
          <p:cNvSpPr/>
          <p:nvPr/>
        </p:nvSpPr>
        <p:spPr>
          <a:xfrm>
            <a:off x="1042988" y="2513886"/>
            <a:ext cx="750094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62.54%</a:t>
            </a:r>
            <a:endParaRPr sz="1100"/>
          </a:p>
        </p:txBody>
      </p:sp>
      <p:sp>
        <p:nvSpPr>
          <p:cNvPr id="352" name="Google Shape;352;p21"/>
          <p:cNvSpPr/>
          <p:nvPr/>
        </p:nvSpPr>
        <p:spPr>
          <a:xfrm>
            <a:off x="1114425" y="3500438"/>
            <a:ext cx="607219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128</a:t>
            </a:r>
            <a:endParaRPr sz="1100"/>
          </a:p>
        </p:txBody>
      </p:sp>
      <p:sp>
        <p:nvSpPr>
          <p:cNvPr id="353" name="Google Shape;353;p21"/>
          <p:cNvSpPr/>
          <p:nvPr/>
        </p:nvSpPr>
        <p:spPr>
          <a:xfrm>
            <a:off x="1114425" y="3657600"/>
            <a:ext cx="607219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5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254 negatives</a:t>
            </a:r>
            <a:endParaRPr sz="1100"/>
          </a:p>
        </p:txBody>
      </p:sp>
      <p:sp>
        <p:nvSpPr>
          <p:cNvPr id="354" name="Google Shape;354;p21"/>
          <p:cNvSpPr/>
          <p:nvPr/>
        </p:nvSpPr>
        <p:spPr>
          <a:xfrm>
            <a:off x="1950244" y="2628543"/>
            <a:ext cx="607219" cy="800457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1"/>
          <p:cNvSpPr/>
          <p:nvPr/>
        </p:nvSpPr>
        <p:spPr>
          <a:xfrm>
            <a:off x="1878806" y="2414231"/>
            <a:ext cx="750094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63.47%</a:t>
            </a:r>
            <a:endParaRPr sz="1100"/>
          </a:p>
        </p:txBody>
      </p:sp>
      <p:sp>
        <p:nvSpPr>
          <p:cNvPr id="356" name="Google Shape;356;p21"/>
          <p:cNvSpPr/>
          <p:nvPr/>
        </p:nvSpPr>
        <p:spPr>
          <a:xfrm>
            <a:off x="1950244" y="3500438"/>
            <a:ext cx="607219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256</a:t>
            </a:r>
            <a:endParaRPr sz="1100"/>
          </a:p>
        </p:txBody>
      </p:sp>
      <p:sp>
        <p:nvSpPr>
          <p:cNvPr id="357" name="Google Shape;357;p21"/>
          <p:cNvSpPr/>
          <p:nvPr/>
        </p:nvSpPr>
        <p:spPr>
          <a:xfrm>
            <a:off x="1950244" y="3657600"/>
            <a:ext cx="607219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5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510 negatives</a:t>
            </a:r>
            <a:endParaRPr sz="1100"/>
          </a:p>
        </p:txBody>
      </p:sp>
      <p:sp>
        <p:nvSpPr>
          <p:cNvPr id="358" name="Google Shape;358;p21"/>
          <p:cNvSpPr/>
          <p:nvPr/>
        </p:nvSpPr>
        <p:spPr>
          <a:xfrm>
            <a:off x="2786063" y="2905006"/>
            <a:ext cx="607219" cy="523994"/>
          </a:xfrm>
          <a:prstGeom prst="rect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1"/>
          <p:cNvSpPr/>
          <p:nvPr/>
        </p:nvSpPr>
        <p:spPr>
          <a:xfrm>
            <a:off x="2714625" y="2690693"/>
            <a:ext cx="750094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60.89%</a:t>
            </a:r>
            <a:endParaRPr sz="1100"/>
          </a:p>
        </p:txBody>
      </p:sp>
      <p:sp>
        <p:nvSpPr>
          <p:cNvPr id="360" name="Google Shape;360;p21"/>
          <p:cNvSpPr/>
          <p:nvPr/>
        </p:nvSpPr>
        <p:spPr>
          <a:xfrm>
            <a:off x="2786063" y="3500438"/>
            <a:ext cx="607219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512</a:t>
            </a:r>
            <a:endParaRPr sz="1100"/>
          </a:p>
        </p:txBody>
      </p:sp>
      <p:sp>
        <p:nvSpPr>
          <p:cNvPr id="361" name="Google Shape;361;p21"/>
          <p:cNvSpPr/>
          <p:nvPr/>
        </p:nvSpPr>
        <p:spPr>
          <a:xfrm>
            <a:off x="2786063" y="3657600"/>
            <a:ext cx="607219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5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1022 negatives</a:t>
            </a:r>
            <a:endParaRPr sz="1100"/>
          </a:p>
        </p:txBody>
      </p:sp>
      <p:sp>
        <p:nvSpPr>
          <p:cNvPr id="362" name="Google Shape;362;p21"/>
          <p:cNvSpPr/>
          <p:nvPr/>
        </p:nvSpPr>
        <p:spPr>
          <a:xfrm>
            <a:off x="3621881" y="3261836"/>
            <a:ext cx="607219" cy="167164"/>
          </a:xfrm>
          <a:prstGeom prst="rect">
            <a:avLst/>
          </a:prstGeom>
          <a:solidFill>
            <a:srgbClr val="DC262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1"/>
          <p:cNvSpPr/>
          <p:nvPr/>
        </p:nvSpPr>
        <p:spPr>
          <a:xfrm>
            <a:off x="3550444" y="3047524"/>
            <a:ext cx="750094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57.56%</a:t>
            </a:r>
            <a:endParaRPr sz="1100"/>
          </a:p>
        </p:txBody>
      </p:sp>
      <p:sp>
        <p:nvSpPr>
          <p:cNvPr id="364" name="Google Shape;364;p21"/>
          <p:cNvSpPr/>
          <p:nvPr/>
        </p:nvSpPr>
        <p:spPr>
          <a:xfrm>
            <a:off x="3621881" y="3500438"/>
            <a:ext cx="607219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1024</a:t>
            </a:r>
            <a:endParaRPr sz="1100"/>
          </a:p>
        </p:txBody>
      </p:sp>
      <p:sp>
        <p:nvSpPr>
          <p:cNvPr id="365" name="Google Shape;365;p21"/>
          <p:cNvSpPr/>
          <p:nvPr/>
        </p:nvSpPr>
        <p:spPr>
          <a:xfrm>
            <a:off x="3621881" y="3657600"/>
            <a:ext cx="607219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5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2046 negatives</a:t>
            </a:r>
            <a:endParaRPr sz="1100"/>
          </a:p>
        </p:txBody>
      </p:sp>
      <p:sp>
        <p:nvSpPr>
          <p:cNvPr id="366" name="Google Shape;366;p21"/>
          <p:cNvSpPr/>
          <p:nvPr/>
        </p:nvSpPr>
        <p:spPr>
          <a:xfrm>
            <a:off x="514350" y="3336131"/>
            <a:ext cx="300038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6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56</a:t>
            </a:r>
            <a:endParaRPr sz="1100"/>
          </a:p>
        </p:txBody>
      </p:sp>
      <p:sp>
        <p:nvSpPr>
          <p:cNvPr id="367" name="Google Shape;367;p21"/>
          <p:cNvSpPr/>
          <p:nvPr/>
        </p:nvSpPr>
        <p:spPr>
          <a:xfrm>
            <a:off x="514350" y="2514600"/>
            <a:ext cx="300038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6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64</a:t>
            </a:r>
            <a:endParaRPr sz="1100"/>
          </a:p>
        </p:txBody>
      </p:sp>
      <p:sp>
        <p:nvSpPr>
          <p:cNvPr id="368" name="Google Shape;368;p21"/>
          <p:cNvSpPr/>
          <p:nvPr/>
        </p:nvSpPr>
        <p:spPr>
          <a:xfrm>
            <a:off x="5143500" y="1785938"/>
            <a:ext cx="2928938" cy="1300163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172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1"/>
          <p:cNvSpPr/>
          <p:nvPr/>
        </p:nvSpPr>
        <p:spPr>
          <a:xfrm>
            <a:off x="5329238" y="1971675"/>
            <a:ext cx="11430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sz="1100"/>
          </a:p>
        </p:txBody>
      </p:sp>
      <p:sp>
        <p:nvSpPr>
          <p:cNvPr id="370" name="Google Shape;370;p21"/>
          <p:cNvSpPr/>
          <p:nvPr/>
        </p:nvSpPr>
        <p:spPr>
          <a:xfrm>
            <a:off x="5329238" y="2185988"/>
            <a:ext cx="24003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256 gives the best balance in this lightweight setup.</a:t>
            </a:r>
            <a:endParaRPr sz="1100"/>
          </a:p>
        </p:txBody>
      </p:sp>
      <p:sp>
        <p:nvSpPr>
          <p:cNvPr id="371" name="Google Shape;371;p21"/>
          <p:cNvSpPr/>
          <p:nvPr/>
        </p:nvSpPr>
        <p:spPr>
          <a:xfrm>
            <a:off x="5329238" y="2621395"/>
            <a:ext cx="2343150" cy="3000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DDE6EF"/>
                </a:solidFill>
                <a:latin typeface="Arial"/>
                <a:ea typeface="Arial"/>
                <a:cs typeface="Arial"/>
                <a:sym typeface="Arial"/>
              </a:rPr>
              <a:t>The largest batch has more negatives, but not necessarily better representation quality.</a:t>
            </a:r>
            <a:endParaRPr sz="1100"/>
          </a:p>
        </p:txBody>
      </p:sp>
      <p:sp>
        <p:nvSpPr>
          <p:cNvPr id="372" name="Google Shape;372;p21"/>
          <p:cNvSpPr/>
          <p:nvPr/>
        </p:nvSpPr>
        <p:spPr>
          <a:xfrm>
            <a:off x="5143500" y="3257550"/>
            <a:ext cx="1414463" cy="80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1"/>
          <p:cNvSpPr/>
          <p:nvPr/>
        </p:nvSpPr>
        <p:spPr>
          <a:xfrm>
            <a:off x="5143500" y="3257550"/>
            <a:ext cx="42863" cy="800100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1"/>
          <p:cNvSpPr/>
          <p:nvPr/>
        </p:nvSpPr>
        <p:spPr>
          <a:xfrm>
            <a:off x="5300663" y="3386138"/>
            <a:ext cx="1157288" cy="3143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900">
                <a:solidFill>
                  <a:srgbClr val="16A34A"/>
                </a:solidFill>
                <a:latin typeface="Play"/>
                <a:ea typeface="Play"/>
                <a:cs typeface="Play"/>
                <a:sym typeface="Play"/>
              </a:rPr>
              <a:t>510</a:t>
            </a:r>
            <a:endParaRPr sz="1100"/>
          </a:p>
        </p:txBody>
      </p:sp>
      <p:sp>
        <p:nvSpPr>
          <p:cNvPr id="375" name="Google Shape;375;p21"/>
          <p:cNvSpPr/>
          <p:nvPr/>
        </p:nvSpPr>
        <p:spPr>
          <a:xfrm>
            <a:off x="5300663" y="3714750"/>
            <a:ext cx="1157288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negatives per anchor at B=256</a:t>
            </a:r>
            <a:endParaRPr sz="1100"/>
          </a:p>
        </p:txBody>
      </p:sp>
      <p:sp>
        <p:nvSpPr>
          <p:cNvPr id="376" name="Google Shape;376;p21"/>
          <p:cNvSpPr/>
          <p:nvPr/>
        </p:nvSpPr>
        <p:spPr>
          <a:xfrm>
            <a:off x="6729413" y="3257550"/>
            <a:ext cx="1414463" cy="80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6729413" y="3257550"/>
            <a:ext cx="42863" cy="800100"/>
          </a:xfrm>
          <a:prstGeom prst="rect">
            <a:avLst/>
          </a:prstGeom>
          <a:solidFill>
            <a:srgbClr val="DC262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6886575" y="3386138"/>
            <a:ext cx="1157288" cy="3143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900">
                <a:solidFill>
                  <a:srgbClr val="DC2626"/>
                </a:solidFill>
                <a:latin typeface="Play"/>
                <a:ea typeface="Play"/>
                <a:cs typeface="Play"/>
                <a:sym typeface="Play"/>
              </a:rPr>
              <a:t>2046</a:t>
            </a:r>
            <a:endParaRPr sz="1100"/>
          </a:p>
        </p:txBody>
      </p:sp>
      <p:sp>
        <p:nvSpPr>
          <p:cNvPr id="379" name="Google Shape;379;p21"/>
          <p:cNvSpPr/>
          <p:nvPr/>
        </p:nvSpPr>
        <p:spPr>
          <a:xfrm>
            <a:off x="6886575" y="3714750"/>
            <a:ext cx="1157288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negatives per anchor at B=1024</a:t>
            </a:r>
            <a:endParaRPr sz="1100"/>
          </a:p>
        </p:txBody>
      </p:sp>
      <p:sp>
        <p:nvSpPr>
          <p:cNvPr id="380" name="Google Shape;380;p21"/>
          <p:cNvSpPr/>
          <p:nvPr/>
        </p:nvSpPr>
        <p:spPr>
          <a:xfrm>
            <a:off x="628650" y="4329113"/>
            <a:ext cx="428625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Likely factors: fewer updates per epoch, unchanged learning-rate schedule, and more false negatives in a 10-class dataset.</a:t>
            </a:r>
            <a:endParaRPr sz="1100"/>
          </a:p>
        </p:txBody>
      </p:sp>
      <p:sp>
        <p:nvSpPr>
          <p:cNvPr id="381" name="Google Shape;381;p21"/>
          <p:cNvSpPr/>
          <p:nvPr/>
        </p:nvSpPr>
        <p:spPr>
          <a:xfrm>
            <a:off x="5143500" y="4329113"/>
            <a:ext cx="3000375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6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Source: feature_eval/batch_size_ablation/summary.csv</a:t>
            </a:r>
            <a:endParaRPr b="0" sz="600">
              <a:solidFill>
                <a:srgbClr val="5C667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E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2"/>
          <p:cNvSpPr/>
          <p:nvPr/>
        </p:nvSpPr>
        <p:spPr>
          <a:xfrm>
            <a:off x="0" y="0"/>
            <a:ext cx="157163" cy="5143500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2"/>
          <p:cNvSpPr/>
          <p:nvPr/>
        </p:nvSpPr>
        <p:spPr>
          <a:xfrm>
            <a:off x="0" y="0"/>
            <a:ext cx="157163" cy="1143000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2"/>
          <p:cNvSpPr/>
          <p:nvPr/>
        </p:nvSpPr>
        <p:spPr>
          <a:xfrm>
            <a:off x="385763" y="48577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COMP3242 Group Project - SimCLR Ablation Study</a:t>
            </a:r>
            <a:endParaRPr sz="1100"/>
          </a:p>
        </p:txBody>
      </p:sp>
      <p:sp>
        <p:nvSpPr>
          <p:cNvPr id="391" name="Google Shape;391;p22"/>
          <p:cNvSpPr/>
          <p:nvPr/>
        </p:nvSpPr>
        <p:spPr>
          <a:xfrm>
            <a:off x="8329613" y="4829175"/>
            <a:ext cx="41433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100"/>
          </a:p>
        </p:txBody>
      </p:sp>
      <p:sp>
        <p:nvSpPr>
          <p:cNvPr id="392" name="Google Shape;392;p22"/>
          <p:cNvSpPr/>
          <p:nvPr/>
        </p:nvSpPr>
        <p:spPr>
          <a:xfrm>
            <a:off x="385763" y="4743450"/>
            <a:ext cx="8358188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2"/>
          <p:cNvSpPr/>
          <p:nvPr/>
        </p:nvSpPr>
        <p:spPr>
          <a:xfrm>
            <a:off x="514350" y="364331"/>
            <a:ext cx="71438" cy="71438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2"/>
          <p:cNvSpPr/>
          <p:nvPr/>
        </p:nvSpPr>
        <p:spPr>
          <a:xfrm>
            <a:off x="642938" y="328613"/>
            <a:ext cx="328612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CLOSING / TAKEAWAYS</a:t>
            </a:r>
            <a:endParaRPr sz="1100"/>
          </a:p>
        </p:txBody>
      </p:sp>
      <p:sp>
        <p:nvSpPr>
          <p:cNvPr id="395" name="Google Shape;395;p22"/>
          <p:cNvSpPr/>
          <p:nvPr/>
        </p:nvSpPr>
        <p:spPr>
          <a:xfrm>
            <a:off x="514350" y="585788"/>
            <a:ext cx="6786563" cy="6715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17202A"/>
                </a:solidFill>
              </a:rPr>
              <a:t>SimCLR performance depends on both representation design and training details.</a:t>
            </a:r>
            <a:endParaRPr sz="1100"/>
          </a:p>
        </p:txBody>
      </p:sp>
      <p:sp>
        <p:nvSpPr>
          <p:cNvPr id="396" name="Google Shape;396;p22"/>
          <p:cNvSpPr/>
          <p:nvPr/>
        </p:nvSpPr>
        <p:spPr>
          <a:xfrm>
            <a:off x="528638" y="1257300"/>
            <a:ext cx="6072188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10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The final report carries the details.</a:t>
            </a:r>
            <a:endParaRPr b="0" sz="1000">
              <a:solidFill>
                <a:srgbClr val="5C66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871538" y="1700213"/>
            <a:ext cx="12858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endParaRPr sz="1100"/>
          </a:p>
        </p:txBody>
      </p:sp>
      <p:sp>
        <p:nvSpPr>
          <p:cNvPr id="398" name="Google Shape;398;p22"/>
          <p:cNvSpPr/>
          <p:nvPr/>
        </p:nvSpPr>
        <p:spPr>
          <a:xfrm>
            <a:off x="2828925" y="1700213"/>
            <a:ext cx="12858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Finding</a:t>
            </a:r>
            <a:endParaRPr sz="1100"/>
          </a:p>
        </p:txBody>
      </p:sp>
      <p:sp>
        <p:nvSpPr>
          <p:cNvPr id="399" name="Google Shape;399;p22"/>
          <p:cNvSpPr/>
          <p:nvPr/>
        </p:nvSpPr>
        <p:spPr>
          <a:xfrm>
            <a:off x="5029200" y="1700213"/>
            <a:ext cx="12858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sz="1100"/>
          </a:p>
        </p:txBody>
      </p:sp>
      <p:sp>
        <p:nvSpPr>
          <p:cNvPr id="400" name="Google Shape;400;p22"/>
          <p:cNvSpPr/>
          <p:nvPr/>
        </p:nvSpPr>
        <p:spPr>
          <a:xfrm>
            <a:off x="657225" y="1885950"/>
            <a:ext cx="7715250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2"/>
          <p:cNvSpPr/>
          <p:nvPr/>
        </p:nvSpPr>
        <p:spPr>
          <a:xfrm>
            <a:off x="685800" y="2028825"/>
            <a:ext cx="71438" cy="3429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2"/>
          <p:cNvSpPr/>
          <p:nvPr/>
        </p:nvSpPr>
        <p:spPr>
          <a:xfrm>
            <a:off x="871538" y="1985963"/>
            <a:ext cx="1714500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Projection head</a:t>
            </a:r>
            <a:endParaRPr sz="1100"/>
          </a:p>
        </p:txBody>
      </p:sp>
      <p:sp>
        <p:nvSpPr>
          <p:cNvPr id="403" name="Google Shape;403;p22"/>
          <p:cNvSpPr/>
          <p:nvPr/>
        </p:nvSpPr>
        <p:spPr>
          <a:xfrm>
            <a:off x="2828925" y="1985963"/>
            <a:ext cx="1928813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+1.43</a:t>
            </a:r>
            <a:r>
              <a:rPr b="1" lang="zh-CN" sz="1000">
                <a:solidFill>
                  <a:srgbClr val="2563EB"/>
                </a:solidFill>
              </a:rPr>
              <a:t>%</a:t>
            </a:r>
            <a:r>
              <a:rPr b="1" lang="zh-CN" sz="10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 best accuracy</a:t>
            </a:r>
            <a:endParaRPr sz="1100"/>
          </a:p>
        </p:txBody>
      </p:sp>
      <p:sp>
        <p:nvSpPr>
          <p:cNvPr id="404" name="Google Shape;404;p22"/>
          <p:cNvSpPr/>
          <p:nvPr/>
        </p:nvSpPr>
        <p:spPr>
          <a:xfrm>
            <a:off x="5029200" y="2000250"/>
            <a:ext cx="3214688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Separating contrastive space from encoder space helps transfer.</a:t>
            </a:r>
            <a:endParaRPr sz="1100"/>
          </a:p>
        </p:txBody>
      </p:sp>
      <p:sp>
        <p:nvSpPr>
          <p:cNvPr id="405" name="Google Shape;405;p22"/>
          <p:cNvSpPr/>
          <p:nvPr/>
        </p:nvSpPr>
        <p:spPr>
          <a:xfrm>
            <a:off x="657225" y="2486025"/>
            <a:ext cx="7715250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2"/>
          <p:cNvSpPr/>
          <p:nvPr/>
        </p:nvSpPr>
        <p:spPr>
          <a:xfrm>
            <a:off x="685800" y="2628900"/>
            <a:ext cx="71438" cy="3429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2"/>
          <p:cNvSpPr/>
          <p:nvPr/>
        </p:nvSpPr>
        <p:spPr>
          <a:xfrm>
            <a:off x="871538" y="2586038"/>
            <a:ext cx="1714500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Batch size</a:t>
            </a:r>
            <a:endParaRPr sz="1100"/>
          </a:p>
        </p:txBody>
      </p:sp>
      <p:sp>
        <p:nvSpPr>
          <p:cNvPr id="408" name="Google Shape;408;p22"/>
          <p:cNvSpPr/>
          <p:nvPr/>
        </p:nvSpPr>
        <p:spPr>
          <a:xfrm>
            <a:off x="2828925" y="2586038"/>
            <a:ext cx="1928813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B=256 best in our runs</a:t>
            </a:r>
            <a:endParaRPr sz="1100"/>
          </a:p>
        </p:txBody>
      </p:sp>
      <p:sp>
        <p:nvSpPr>
          <p:cNvPr id="409" name="Google Shape;409;p22"/>
          <p:cNvSpPr/>
          <p:nvPr/>
        </p:nvSpPr>
        <p:spPr>
          <a:xfrm>
            <a:off x="5029200" y="2600325"/>
            <a:ext cx="3214688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More negatives help only when optimization remains matched.</a:t>
            </a:r>
            <a:endParaRPr sz="1100"/>
          </a:p>
        </p:txBody>
      </p:sp>
      <p:sp>
        <p:nvSpPr>
          <p:cNvPr id="410" name="Google Shape;410;p22"/>
          <p:cNvSpPr/>
          <p:nvPr/>
        </p:nvSpPr>
        <p:spPr>
          <a:xfrm>
            <a:off x="657225" y="3086100"/>
            <a:ext cx="7715250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2"/>
          <p:cNvSpPr/>
          <p:nvPr/>
        </p:nvSpPr>
        <p:spPr>
          <a:xfrm>
            <a:off x="685800" y="3228975"/>
            <a:ext cx="71438" cy="342900"/>
          </a:xfrm>
          <a:prstGeom prst="rect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2"/>
          <p:cNvSpPr/>
          <p:nvPr/>
        </p:nvSpPr>
        <p:spPr>
          <a:xfrm>
            <a:off x="871538" y="3186113"/>
            <a:ext cx="1714500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Data augmentation</a:t>
            </a:r>
            <a:endParaRPr sz="1100"/>
          </a:p>
        </p:txBody>
      </p:sp>
      <p:sp>
        <p:nvSpPr>
          <p:cNvPr id="413" name="Google Shape;413;p22"/>
          <p:cNvSpPr/>
          <p:nvPr/>
        </p:nvSpPr>
        <p:spPr>
          <a:xfrm>
            <a:off x="2828925" y="3186113"/>
            <a:ext cx="1928813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Weiyi to fill</a:t>
            </a:r>
            <a:endParaRPr sz="1100"/>
          </a:p>
        </p:txBody>
      </p:sp>
      <p:sp>
        <p:nvSpPr>
          <p:cNvPr id="414" name="Google Shape;414;p22"/>
          <p:cNvSpPr/>
          <p:nvPr/>
        </p:nvSpPr>
        <p:spPr>
          <a:xfrm>
            <a:off x="5029200" y="3200400"/>
            <a:ext cx="3214688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TODO.</a:t>
            </a:r>
            <a:endParaRPr sz="1100"/>
          </a:p>
        </p:txBody>
      </p:sp>
      <p:sp>
        <p:nvSpPr>
          <p:cNvPr id="415" name="Google Shape;415;p22"/>
          <p:cNvSpPr/>
          <p:nvPr/>
        </p:nvSpPr>
        <p:spPr>
          <a:xfrm>
            <a:off x="657225" y="3686175"/>
            <a:ext cx="7715250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2"/>
          <p:cNvSpPr/>
          <p:nvPr/>
        </p:nvSpPr>
        <p:spPr>
          <a:xfrm>
            <a:off x="685800" y="3829050"/>
            <a:ext cx="71438" cy="342900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2"/>
          <p:cNvSpPr/>
          <p:nvPr/>
        </p:nvSpPr>
        <p:spPr>
          <a:xfrm>
            <a:off x="871538" y="3786188"/>
            <a:ext cx="1714500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Low-label eval</a:t>
            </a:r>
            <a:endParaRPr sz="1100"/>
          </a:p>
        </p:txBody>
      </p:sp>
      <p:sp>
        <p:nvSpPr>
          <p:cNvPr id="418" name="Google Shape;418;p22"/>
          <p:cNvSpPr/>
          <p:nvPr/>
        </p:nvSpPr>
        <p:spPr>
          <a:xfrm>
            <a:off x="2828925" y="3786188"/>
            <a:ext cx="1928813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Chengbo to fill</a:t>
            </a:r>
            <a:endParaRPr sz="1100"/>
          </a:p>
        </p:txBody>
      </p:sp>
      <p:sp>
        <p:nvSpPr>
          <p:cNvPr id="419" name="Google Shape;419;p22"/>
          <p:cNvSpPr/>
          <p:nvPr/>
        </p:nvSpPr>
        <p:spPr>
          <a:xfrm>
            <a:off x="5029200" y="3800475"/>
            <a:ext cx="3214688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TODO.</a:t>
            </a:r>
            <a:endParaRPr sz="1100"/>
          </a:p>
        </p:txBody>
      </p:sp>
      <p:sp>
        <p:nvSpPr>
          <p:cNvPr id="420" name="Google Shape;420;p22"/>
          <p:cNvSpPr/>
          <p:nvPr/>
        </p:nvSpPr>
        <p:spPr>
          <a:xfrm>
            <a:off x="657225" y="4343400"/>
            <a:ext cx="7715100" cy="271500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172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2"/>
          <p:cNvSpPr/>
          <p:nvPr/>
        </p:nvSpPr>
        <p:spPr>
          <a:xfrm>
            <a:off x="757250" y="4407631"/>
            <a:ext cx="857400" cy="128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F0E9FF"/>
                </a:solidFill>
              </a:rPr>
              <a:t>LIMITATIONS</a:t>
            </a:r>
            <a:endParaRPr b="1" sz="1300"/>
          </a:p>
        </p:txBody>
      </p:sp>
      <p:sp>
        <p:nvSpPr>
          <p:cNvPr id="422" name="Google Shape;422;p22"/>
          <p:cNvSpPr/>
          <p:nvPr/>
        </p:nvSpPr>
        <p:spPr>
          <a:xfrm>
            <a:off x="1643063" y="4393400"/>
            <a:ext cx="5857800" cy="171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single seed, CIFAR-10/ResNet-18 only, epoch-</a:t>
            </a:r>
            <a:r>
              <a:rPr b="1" lang="zh-CN" sz="800">
                <a:solidFill>
                  <a:srgbClr val="FFFFFF"/>
                </a:solidFill>
              </a:rPr>
              <a:t>fixed</a:t>
            </a:r>
            <a:r>
              <a:rPr b="1" lang="zh-C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runs, no batch-size-specific retuning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